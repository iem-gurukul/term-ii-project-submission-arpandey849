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7620000" cy="10769600"/>
  <p:notesSz cx="7620000" cy="10769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1500" y="3338576"/>
            <a:ext cx="6477000" cy="22616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43000" y="6030976"/>
            <a:ext cx="5334000" cy="269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1000" y="2477008"/>
            <a:ext cx="3314700" cy="71079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924300" y="2477008"/>
            <a:ext cx="3314700" cy="71079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1000" y="430784"/>
            <a:ext cx="6858000" cy="17231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1000" y="2477008"/>
            <a:ext cx="6858000" cy="71079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90800" y="10015728"/>
            <a:ext cx="2438400" cy="538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1000" y="10015728"/>
            <a:ext cx="1752600" cy="538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86400" y="10015728"/>
            <a:ext cx="1752600" cy="538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7933" y="6742633"/>
            <a:ext cx="6223000" cy="64296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7933" y="5460940"/>
            <a:ext cx="6223000" cy="89676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7933" y="4839129"/>
            <a:ext cx="6223000" cy="23265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7933" y="4175018"/>
            <a:ext cx="6223000" cy="1269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7933" y="3557436"/>
            <a:ext cx="6223000" cy="232650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406400" y="7524126"/>
            <a:ext cx="6221095" cy="0"/>
          </a:xfrm>
          <a:custGeom>
            <a:avLst/>
            <a:gdLst/>
            <a:ahLst/>
            <a:cxnLst/>
            <a:rect l="l" t="t" r="r" b="b"/>
            <a:pathLst>
              <a:path w="6221095" h="0">
                <a:moveTo>
                  <a:pt x="0" y="0"/>
                </a:moveTo>
                <a:lnTo>
                  <a:pt x="6220879" y="0"/>
                </a:lnTo>
              </a:path>
            </a:pathLst>
          </a:custGeom>
          <a:ln w="10575">
            <a:solidFill>
              <a:srgbClr val="232323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7933" y="2889096"/>
            <a:ext cx="6223000" cy="384929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323015" y="177650"/>
            <a:ext cx="6409690" cy="336169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114"/>
              </a:spcBef>
            </a:pPr>
            <a:r>
              <a:rPr dirty="0" sz="1650" spc="-160">
                <a:solidFill>
                  <a:srgbClr val="242424"/>
                </a:solidFill>
                <a:latin typeface="Arial MT"/>
                <a:cs typeface="Arial MT"/>
              </a:rPr>
              <a:t>ATM</a:t>
            </a:r>
            <a:r>
              <a:rPr dirty="0" sz="1650" spc="-2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50" spc="-170">
                <a:solidFill>
                  <a:srgbClr val="242424"/>
                </a:solidFill>
                <a:latin typeface="Arial MT"/>
                <a:cs typeface="Arial MT"/>
              </a:rPr>
              <a:t>SIMULATION</a:t>
            </a:r>
            <a:r>
              <a:rPr dirty="0" sz="1650" spc="11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50" spc="-110">
                <a:solidFill>
                  <a:srgbClr val="242424"/>
                </a:solidFill>
                <a:latin typeface="Arial MT"/>
                <a:cs typeface="Arial MT"/>
              </a:rPr>
              <a:t>SYSTEMAJava-</a:t>
            </a:r>
            <a:r>
              <a:rPr dirty="0" sz="1650" spc="-105">
                <a:solidFill>
                  <a:srgbClr val="242424"/>
                </a:solidFill>
                <a:latin typeface="Arial MT"/>
                <a:cs typeface="Arial MT"/>
              </a:rPr>
              <a:t>Based</a:t>
            </a:r>
            <a:r>
              <a:rPr dirty="0" sz="1650" spc="-16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50" spc="-100">
                <a:solidFill>
                  <a:srgbClr val="242424"/>
                </a:solidFill>
                <a:latin typeface="Arial MT"/>
                <a:cs typeface="Arial MT"/>
              </a:rPr>
              <a:t>Banking</a:t>
            </a:r>
            <a:r>
              <a:rPr dirty="0" sz="1650" spc="5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50" spc="-60">
                <a:solidFill>
                  <a:srgbClr val="242424"/>
                </a:solidFill>
                <a:latin typeface="Arial MT"/>
                <a:cs typeface="Arial MT"/>
              </a:rPr>
              <a:t>Application</a:t>
            </a:r>
            <a:r>
              <a:rPr dirty="0" sz="1650" spc="-1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50" spc="-105">
                <a:solidFill>
                  <a:srgbClr val="242424"/>
                </a:solidFill>
                <a:latin typeface="Arial MT"/>
                <a:cs typeface="Arial MT"/>
              </a:rPr>
              <a:t>Using</a:t>
            </a:r>
            <a:r>
              <a:rPr dirty="0" sz="1650" spc="-1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50" spc="-30">
                <a:solidFill>
                  <a:srgbClr val="242424"/>
                </a:solidFill>
                <a:latin typeface="Arial MT"/>
                <a:cs typeface="Arial MT"/>
              </a:rPr>
              <a:t>Object-</a:t>
            </a:r>
            <a:endParaRPr sz="1650">
              <a:latin typeface="Arial MT"/>
              <a:cs typeface="Arial MT"/>
            </a:endParaRPr>
          </a:p>
          <a:p>
            <a:pPr marL="13335">
              <a:lnSpc>
                <a:spcPct val="100000"/>
              </a:lnSpc>
            </a:pPr>
            <a:r>
              <a:rPr dirty="0" sz="1700" spc="-130">
                <a:solidFill>
                  <a:srgbClr val="242424"/>
                </a:solidFill>
                <a:latin typeface="Arial MT"/>
                <a:cs typeface="Arial MT"/>
              </a:rPr>
              <a:t>Oriented</a:t>
            </a:r>
            <a:r>
              <a:rPr dirty="0" sz="1700" spc="4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700" spc="-85">
                <a:solidFill>
                  <a:srgbClr val="242424"/>
                </a:solidFill>
                <a:latin typeface="Arial MT"/>
                <a:cs typeface="Arial MT"/>
              </a:rPr>
              <a:t>ProgammingProblem</a:t>
            </a:r>
            <a:r>
              <a:rPr dirty="0" sz="1700" spc="-14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700" spc="-10">
                <a:solidFill>
                  <a:srgbClr val="242424"/>
                </a:solidFill>
                <a:latin typeface="Arial MT"/>
                <a:cs typeface="Arial MT"/>
              </a:rPr>
              <a:t>Statement:</a:t>
            </a:r>
            <a:endParaRPr sz="1700">
              <a:latin typeface="Arial MT"/>
              <a:cs typeface="Arial MT"/>
            </a:endParaRPr>
          </a:p>
          <a:p>
            <a:pPr marL="12700" marR="176530" indent="1905">
              <a:lnSpc>
                <a:spcPct val="105700"/>
              </a:lnSpc>
              <a:spcBef>
                <a:spcPts val="5"/>
              </a:spcBef>
            </a:pPr>
            <a:r>
              <a:rPr dirty="0" sz="1550" spc="-80">
                <a:solidFill>
                  <a:srgbClr val="242424"/>
                </a:solidFill>
                <a:latin typeface="Arial MT"/>
                <a:cs typeface="Arial MT"/>
              </a:rPr>
              <a:t>To</a:t>
            </a:r>
            <a:r>
              <a:rPr dirty="0" sz="1550" spc="-3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50">
                <a:solidFill>
                  <a:srgbClr val="242424"/>
                </a:solidFill>
                <a:latin typeface="Arial MT"/>
                <a:cs typeface="Arial MT"/>
              </a:rPr>
              <a:t>develop</a:t>
            </a:r>
            <a:r>
              <a:rPr dirty="0" sz="1550" spc="-5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242424"/>
                </a:solidFill>
                <a:latin typeface="Arial MT"/>
                <a:cs typeface="Arial MT"/>
              </a:rPr>
              <a:t>a</a:t>
            </a:r>
            <a:r>
              <a:rPr dirty="0" sz="1550" spc="-7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60">
                <a:solidFill>
                  <a:srgbClr val="242424"/>
                </a:solidFill>
                <a:latin typeface="Arial MT"/>
                <a:cs typeface="Arial MT"/>
              </a:rPr>
              <a:t>secure,</a:t>
            </a:r>
            <a:r>
              <a:rPr dirty="0" sz="1550" spc="-4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50">
                <a:solidFill>
                  <a:srgbClr val="242424"/>
                </a:solidFill>
                <a:latin typeface="Arial MT"/>
                <a:cs typeface="Arial MT"/>
              </a:rPr>
              <a:t>user-</a:t>
            </a:r>
            <a:r>
              <a:rPr dirty="0" sz="1550" spc="-20">
                <a:solidFill>
                  <a:srgbClr val="242424"/>
                </a:solidFill>
                <a:latin typeface="Arial MT"/>
                <a:cs typeface="Arial MT"/>
              </a:rPr>
              <a:t>friendly</a:t>
            </a:r>
            <a:r>
              <a:rPr dirty="0" sz="1550" spc="8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110">
                <a:solidFill>
                  <a:srgbClr val="242424"/>
                </a:solidFill>
                <a:latin typeface="Arial MT"/>
                <a:cs typeface="Arial MT"/>
              </a:rPr>
              <a:t>ATM</a:t>
            </a:r>
            <a:r>
              <a:rPr dirty="0" sz="1550" spc="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242424"/>
                </a:solidFill>
                <a:latin typeface="Arial MT"/>
                <a:cs typeface="Arial MT"/>
              </a:rPr>
              <a:t>simulation</a:t>
            </a:r>
            <a:r>
              <a:rPr dirty="0" sz="1550" spc="-3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242424"/>
                </a:solidFill>
                <a:latin typeface="Arial MT"/>
                <a:cs typeface="Arial MT"/>
              </a:rPr>
              <a:t>that</a:t>
            </a:r>
            <a:r>
              <a:rPr dirty="0" sz="1550" spc="-3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25">
                <a:solidFill>
                  <a:srgbClr val="242424"/>
                </a:solidFill>
                <a:latin typeface="Arial MT"/>
                <a:cs typeface="Arial MT"/>
              </a:rPr>
              <a:t>demonstrates</a:t>
            </a:r>
            <a:r>
              <a:rPr dirty="0" sz="1550" spc="3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20">
                <a:solidFill>
                  <a:srgbClr val="242424"/>
                </a:solidFill>
                <a:latin typeface="Arial MT"/>
                <a:cs typeface="Arial MT"/>
              </a:rPr>
              <a:t>core </a:t>
            </a:r>
            <a:r>
              <a:rPr dirty="0" sz="1600" spc="-50">
                <a:solidFill>
                  <a:srgbClr val="242424"/>
                </a:solidFill>
                <a:latin typeface="Arial MT"/>
                <a:cs typeface="Arial MT"/>
              </a:rPr>
              <a:t>banking</a:t>
            </a:r>
            <a:r>
              <a:rPr dirty="0" sz="1600" spc="1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55">
                <a:solidFill>
                  <a:srgbClr val="242424"/>
                </a:solidFill>
                <a:latin typeface="Arial MT"/>
                <a:cs typeface="Arial MT"/>
              </a:rPr>
              <a:t>operations</a:t>
            </a:r>
            <a:r>
              <a:rPr dirty="0" sz="1600" spc="9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55">
                <a:solidFill>
                  <a:srgbClr val="242424"/>
                </a:solidFill>
                <a:latin typeface="Arial MT"/>
                <a:cs typeface="Arial MT"/>
              </a:rPr>
              <a:t>while</a:t>
            </a:r>
            <a:r>
              <a:rPr dirty="0" sz="1600" spc="-6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45">
                <a:solidFill>
                  <a:srgbClr val="242424"/>
                </a:solidFill>
                <a:latin typeface="Arial MT"/>
                <a:cs typeface="Arial MT"/>
              </a:rPr>
              <a:t>implementing</a:t>
            </a:r>
            <a:r>
              <a:rPr dirty="0" sz="1600" spc="1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20">
                <a:solidFill>
                  <a:srgbClr val="242424"/>
                </a:solidFill>
                <a:latin typeface="Arial MT"/>
                <a:cs typeface="Arial MT"/>
              </a:rPr>
              <a:t>all</a:t>
            </a:r>
            <a:r>
              <a:rPr dirty="0" sz="1600" spc="-9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20">
                <a:solidFill>
                  <a:srgbClr val="242424"/>
                </a:solidFill>
                <a:latin typeface="Arial MT"/>
                <a:cs typeface="Arial MT"/>
              </a:rPr>
              <a:t>four</a:t>
            </a:r>
            <a:r>
              <a:rPr dirty="0" sz="1600" spc="-7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20">
                <a:solidFill>
                  <a:srgbClr val="242424"/>
                </a:solidFill>
                <a:latin typeface="Arial MT"/>
                <a:cs typeface="Arial MT"/>
              </a:rPr>
              <a:t>pillars</a:t>
            </a:r>
            <a:r>
              <a:rPr dirty="0" sz="1600" spc="-5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242424"/>
                </a:solidFill>
                <a:latin typeface="Arial MT"/>
                <a:cs typeface="Arial MT"/>
              </a:rPr>
              <a:t>of</a:t>
            </a:r>
            <a:r>
              <a:rPr dirty="0" sz="1600" spc="-6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80">
                <a:solidFill>
                  <a:srgbClr val="242424"/>
                </a:solidFill>
                <a:latin typeface="Arial MT"/>
                <a:cs typeface="Arial MT"/>
              </a:rPr>
              <a:t>Object-</a:t>
            </a:r>
            <a:r>
              <a:rPr dirty="0" sz="1600" spc="-10">
                <a:solidFill>
                  <a:srgbClr val="242424"/>
                </a:solidFill>
                <a:latin typeface="Arial MT"/>
                <a:cs typeface="Arial MT"/>
              </a:rPr>
              <a:t>Oriented Programming.</a:t>
            </a:r>
            <a:endParaRPr sz="1600">
              <a:latin typeface="Arial MT"/>
              <a:cs typeface="Arial MT"/>
            </a:endParaRPr>
          </a:p>
          <a:p>
            <a:pPr marL="14604">
              <a:lnSpc>
                <a:spcPct val="100000"/>
              </a:lnSpc>
              <a:spcBef>
                <a:spcPts val="75"/>
              </a:spcBef>
            </a:pPr>
            <a:r>
              <a:rPr dirty="0" sz="1650" spc="-114">
                <a:solidFill>
                  <a:srgbClr val="242424"/>
                </a:solidFill>
                <a:latin typeface="Arial MT"/>
                <a:cs typeface="Arial MT"/>
              </a:rPr>
              <a:t>Target</a:t>
            </a:r>
            <a:r>
              <a:rPr dirty="0" sz="1650" spc="1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242424"/>
                </a:solidFill>
                <a:latin typeface="Arial MT"/>
                <a:cs typeface="Arial MT"/>
              </a:rPr>
              <a:t>User:</a:t>
            </a:r>
            <a:endParaRPr sz="1650">
              <a:latin typeface="Arial MT"/>
              <a:cs typeface="Arial MT"/>
            </a:endParaRPr>
          </a:p>
          <a:p>
            <a:pPr marL="563880" indent="-381000">
              <a:lnSpc>
                <a:spcPct val="100000"/>
              </a:lnSpc>
              <a:spcBef>
                <a:spcPts val="120"/>
              </a:spcBef>
              <a:buChar char="•"/>
              <a:tabLst>
                <a:tab pos="563880" algn="l"/>
              </a:tabLst>
            </a:pPr>
            <a:r>
              <a:rPr dirty="0" sz="1550" spc="-45">
                <a:solidFill>
                  <a:srgbClr val="242424"/>
                </a:solidFill>
                <a:latin typeface="Arial MT"/>
                <a:cs typeface="Arial MT"/>
              </a:rPr>
              <a:t>Banking</a:t>
            </a:r>
            <a:r>
              <a:rPr dirty="0" sz="1550" spc="-6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242424"/>
                </a:solidFill>
                <a:latin typeface="Arial MT"/>
                <a:cs typeface="Arial MT"/>
              </a:rPr>
              <a:t>customers</a:t>
            </a:r>
            <a:r>
              <a:rPr dirty="0" sz="1550" spc="-5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45">
                <a:solidFill>
                  <a:srgbClr val="242424"/>
                </a:solidFill>
                <a:latin typeface="Arial MT"/>
                <a:cs typeface="Arial MT"/>
              </a:rPr>
              <a:t>needing</a:t>
            </a:r>
            <a:r>
              <a:rPr dirty="0" sz="1550" spc="-6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242424"/>
                </a:solidFill>
                <a:latin typeface="Arial MT"/>
                <a:cs typeface="Arial MT"/>
              </a:rPr>
              <a:t>basic</a:t>
            </a:r>
            <a:r>
              <a:rPr dirty="0" sz="1550" spc="-7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242424"/>
                </a:solidFill>
                <a:latin typeface="Arial MT"/>
                <a:cs typeface="Arial MT"/>
              </a:rPr>
              <a:t>transaction</a:t>
            </a:r>
            <a:r>
              <a:rPr dirty="0" sz="1550" spc="-4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242424"/>
                </a:solidFill>
                <a:latin typeface="Arial MT"/>
                <a:cs typeface="Arial MT"/>
              </a:rPr>
              <a:t>access</a:t>
            </a:r>
            <a:endParaRPr sz="1550">
              <a:latin typeface="Arial MT"/>
              <a:cs typeface="Arial MT"/>
            </a:endParaRPr>
          </a:p>
          <a:p>
            <a:pPr marL="563880" indent="-381000">
              <a:lnSpc>
                <a:spcPct val="100000"/>
              </a:lnSpc>
              <a:spcBef>
                <a:spcPts val="170"/>
              </a:spcBef>
              <a:buChar char="•"/>
              <a:tabLst>
                <a:tab pos="563880" algn="l"/>
              </a:tabLst>
            </a:pPr>
            <a:r>
              <a:rPr dirty="0" sz="1550" spc="-35">
                <a:solidFill>
                  <a:srgbClr val="242424"/>
                </a:solidFill>
                <a:latin typeface="Arial MT"/>
                <a:cs typeface="Arial MT"/>
              </a:rPr>
              <a:t>Computer</a:t>
            </a:r>
            <a:r>
              <a:rPr dirty="0" sz="1550" spc="-7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45">
                <a:solidFill>
                  <a:srgbClr val="242424"/>
                </a:solidFill>
                <a:latin typeface="Arial MT"/>
                <a:cs typeface="Arial MT"/>
              </a:rPr>
              <a:t>Science</a:t>
            </a:r>
            <a:r>
              <a:rPr dirty="0" sz="1550" spc="-6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242424"/>
                </a:solidFill>
                <a:latin typeface="Arial MT"/>
                <a:cs typeface="Arial MT"/>
              </a:rPr>
              <a:t>students</a:t>
            </a:r>
            <a:r>
              <a:rPr dirty="0" sz="1550" spc="-4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30">
                <a:solidFill>
                  <a:srgbClr val="242424"/>
                </a:solidFill>
                <a:latin typeface="Arial MT"/>
                <a:cs typeface="Arial MT"/>
              </a:rPr>
              <a:t>learning</a:t>
            </a:r>
            <a:r>
              <a:rPr dirty="0" sz="1550" spc="-3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190">
                <a:solidFill>
                  <a:srgbClr val="242424"/>
                </a:solidFill>
                <a:latin typeface="Arial MT"/>
                <a:cs typeface="Arial MT"/>
              </a:rPr>
              <a:t>OOP</a:t>
            </a:r>
            <a:r>
              <a:rPr dirty="0" sz="1550" spc="3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242424"/>
                </a:solidFill>
                <a:latin typeface="Arial MT"/>
                <a:cs typeface="Arial MT"/>
              </a:rPr>
              <a:t>concepts</a:t>
            </a:r>
            <a:endParaRPr sz="1550">
              <a:latin typeface="Arial MT"/>
              <a:cs typeface="Arial MT"/>
            </a:endParaRPr>
          </a:p>
          <a:p>
            <a:pPr marL="562610" indent="-379730">
              <a:lnSpc>
                <a:spcPct val="100000"/>
              </a:lnSpc>
              <a:spcBef>
                <a:spcPts val="175"/>
              </a:spcBef>
              <a:buChar char="•"/>
              <a:tabLst>
                <a:tab pos="562610" algn="l"/>
              </a:tabLst>
            </a:pPr>
            <a:r>
              <a:rPr dirty="0" sz="1550" spc="-35">
                <a:solidFill>
                  <a:srgbClr val="242424"/>
                </a:solidFill>
                <a:latin typeface="Arial MT"/>
                <a:cs typeface="Arial MT"/>
              </a:rPr>
              <a:t>Educators</a:t>
            </a:r>
            <a:r>
              <a:rPr dirty="0" sz="1550" spc="-6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20">
                <a:solidFill>
                  <a:srgbClr val="242424"/>
                </a:solidFill>
                <a:latin typeface="Arial MT"/>
                <a:cs typeface="Arial MT"/>
              </a:rPr>
              <a:t>teaching</a:t>
            </a:r>
            <a:r>
              <a:rPr dirty="0" sz="1550" spc="-3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242424"/>
                </a:solidFill>
                <a:latin typeface="Arial MT"/>
                <a:cs typeface="Arial MT"/>
              </a:rPr>
              <a:t>software</a:t>
            </a:r>
            <a:r>
              <a:rPr dirty="0" sz="1550" spc="-4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30">
                <a:solidFill>
                  <a:srgbClr val="242424"/>
                </a:solidFill>
                <a:latin typeface="Arial MT"/>
                <a:cs typeface="Arial MT"/>
              </a:rPr>
              <a:t>design</a:t>
            </a:r>
            <a:r>
              <a:rPr dirty="0" sz="1550" spc="-7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242424"/>
                </a:solidFill>
                <a:latin typeface="Arial MT"/>
                <a:cs typeface="Arial MT"/>
              </a:rPr>
              <a:t>patterns</a:t>
            </a:r>
            <a:endParaRPr sz="1550">
              <a:latin typeface="Arial MT"/>
              <a:cs typeface="Arial MT"/>
            </a:endParaRPr>
          </a:p>
          <a:p>
            <a:pPr marL="14604">
              <a:lnSpc>
                <a:spcPct val="100000"/>
              </a:lnSpc>
              <a:spcBef>
                <a:spcPts val="55"/>
              </a:spcBef>
            </a:pPr>
            <a:r>
              <a:rPr dirty="0" sz="1650" spc="-185">
                <a:solidFill>
                  <a:srgbClr val="242424"/>
                </a:solidFill>
                <a:latin typeface="Arial MT"/>
                <a:cs typeface="Arial MT"/>
              </a:rPr>
              <a:t>SLIDE</a:t>
            </a:r>
            <a:r>
              <a:rPr dirty="0" sz="1650" spc="-6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242424"/>
                </a:solidFill>
                <a:latin typeface="Arial MT"/>
                <a:cs typeface="Arial MT"/>
              </a:rPr>
              <a:t>2</a:t>
            </a:r>
            <a:r>
              <a:rPr dirty="0" sz="1650" spc="-9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242424"/>
                </a:solidFill>
                <a:latin typeface="Arial MT"/>
                <a:cs typeface="Arial MT"/>
              </a:rPr>
              <a:t>-</a:t>
            </a:r>
            <a:r>
              <a:rPr dirty="0" sz="1650" spc="34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50" spc="-210">
                <a:solidFill>
                  <a:srgbClr val="242424"/>
                </a:solidFill>
                <a:latin typeface="Arial MT"/>
                <a:cs typeface="Arial MT"/>
              </a:rPr>
              <a:t>SYSTEM</a:t>
            </a:r>
            <a:r>
              <a:rPr dirty="0" sz="1650" spc="3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50" spc="-215">
                <a:solidFill>
                  <a:srgbClr val="242424"/>
                </a:solidFill>
                <a:latin typeface="Arial MT"/>
                <a:cs typeface="Arial MT"/>
              </a:rPr>
              <a:t>DESIGN</a:t>
            </a:r>
            <a:r>
              <a:rPr dirty="0" sz="1650" spc="8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50" spc="-70">
                <a:solidFill>
                  <a:srgbClr val="242424"/>
                </a:solidFill>
                <a:latin typeface="Arial MT"/>
                <a:cs typeface="Arial MT"/>
              </a:rPr>
              <a:t>(1</a:t>
            </a:r>
            <a:r>
              <a:rPr dirty="0" sz="1650" spc="-10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50" spc="-65">
                <a:solidFill>
                  <a:srgbClr val="242424"/>
                </a:solidFill>
                <a:latin typeface="Arial MT"/>
                <a:cs typeface="Arial MT"/>
              </a:rPr>
              <a:t>minute)High-</a:t>
            </a:r>
            <a:r>
              <a:rPr dirty="0" sz="1650" spc="-10">
                <a:solidFill>
                  <a:srgbClr val="242424"/>
                </a:solidFill>
                <a:latin typeface="Arial MT"/>
                <a:cs typeface="Arial MT"/>
              </a:rPr>
              <a:t>LeveIAmhitecturetext</a:t>
            </a:r>
            <a:endParaRPr sz="1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650">
              <a:latin typeface="Arial MT"/>
              <a:cs typeface="Arial MT"/>
            </a:endParaRPr>
          </a:p>
          <a:p>
            <a:pPr marL="62230">
              <a:lnSpc>
                <a:spcPct val="100000"/>
              </a:lnSpc>
              <a:tabLst>
                <a:tab pos="668655" algn="l"/>
              </a:tabLst>
            </a:pPr>
            <a:r>
              <a:rPr dirty="0" sz="1600" spc="-405">
                <a:solidFill>
                  <a:srgbClr val="242424"/>
                </a:solidFill>
                <a:latin typeface="Arial MT"/>
                <a:cs typeface="Arial MT"/>
              </a:rPr>
              <a:t>)</a:t>
            </a:r>
            <a:r>
              <a:rPr dirty="0" sz="1600">
                <a:solidFill>
                  <a:srgbClr val="242424"/>
                </a:solidFill>
                <a:latin typeface="Arial MT"/>
                <a:cs typeface="Arial MT"/>
              </a:rPr>
              <a:t>	</a:t>
            </a:r>
            <a:r>
              <a:rPr dirty="0" sz="1600" spc="-170">
                <a:solidFill>
                  <a:srgbClr val="242424"/>
                </a:solidFill>
                <a:latin typeface="Arial MT"/>
                <a:cs typeface="Arial MT"/>
              </a:rPr>
              <a:t>PRESENTATION</a:t>
            </a:r>
            <a:r>
              <a:rPr dirty="0" sz="1600" spc="12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242424"/>
                </a:solidFill>
                <a:latin typeface="Arial MT"/>
                <a:cs typeface="Arial MT"/>
              </a:rPr>
              <a:t>LAYER</a:t>
            </a:r>
            <a:endParaRPr sz="1600">
              <a:latin typeface="Arial MT"/>
              <a:cs typeface="Arial MT"/>
            </a:endParaRPr>
          </a:p>
          <a:p>
            <a:pPr marL="572770">
              <a:lnSpc>
                <a:spcPct val="100000"/>
              </a:lnSpc>
              <a:spcBef>
                <a:spcPts val="130"/>
              </a:spcBef>
            </a:pPr>
            <a:r>
              <a:rPr dirty="0" sz="1600" spc="-75">
                <a:solidFill>
                  <a:srgbClr val="242424"/>
                </a:solidFill>
                <a:latin typeface="Arial MT"/>
                <a:cs typeface="Arial MT"/>
              </a:rPr>
              <a:t>Console</a:t>
            </a:r>
            <a:r>
              <a:rPr dirty="0" sz="1600" spc="-1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40">
                <a:solidFill>
                  <a:srgbClr val="242424"/>
                </a:solidFill>
                <a:latin typeface="Arial MT"/>
                <a:cs typeface="Arial MT"/>
              </a:rPr>
              <a:t>Interface</a:t>
            </a:r>
            <a:r>
              <a:rPr dirty="0" sz="1600">
                <a:solidFill>
                  <a:srgbClr val="242424"/>
                </a:solidFill>
                <a:latin typeface="Arial MT"/>
                <a:cs typeface="Arial MT"/>
              </a:rPr>
              <a:t> /</a:t>
            </a:r>
            <a:r>
              <a:rPr dirty="0" sz="1600" spc="8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20">
                <a:solidFill>
                  <a:srgbClr val="242424"/>
                </a:solidFill>
                <a:latin typeface="Arial MT"/>
                <a:cs typeface="Arial MT"/>
              </a:rPr>
              <a:t>Menu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459318" y="4300321"/>
            <a:ext cx="49530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spc="-380">
                <a:solidFill>
                  <a:srgbClr val="242424"/>
                </a:solidFill>
                <a:latin typeface="Arial MT"/>
                <a:cs typeface="Arial MT"/>
              </a:rPr>
              <a:t>)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72684" y="4300321"/>
            <a:ext cx="2702560" cy="51943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619760" algn="l"/>
              </a:tabLst>
            </a:pPr>
            <a:r>
              <a:rPr dirty="0" sz="1550" spc="-380">
                <a:solidFill>
                  <a:srgbClr val="242424"/>
                </a:solidFill>
                <a:latin typeface="Arial MT"/>
                <a:cs typeface="Arial MT"/>
              </a:rPr>
              <a:t>)</a:t>
            </a:r>
            <a:r>
              <a:rPr dirty="0" sz="1550">
                <a:solidFill>
                  <a:srgbClr val="242424"/>
                </a:solidFill>
                <a:latin typeface="Arial MT"/>
                <a:cs typeface="Arial MT"/>
              </a:rPr>
              <a:t>	</a:t>
            </a:r>
            <a:r>
              <a:rPr dirty="0" sz="1550" spc="-145">
                <a:solidFill>
                  <a:srgbClr val="242424"/>
                </a:solidFill>
                <a:latin typeface="Arial MT"/>
                <a:cs typeface="Arial MT"/>
              </a:rPr>
              <a:t>BUSINESS</a:t>
            </a:r>
            <a:r>
              <a:rPr dirty="0" sz="1550" spc="7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242424"/>
                </a:solidFill>
                <a:latin typeface="Arial MT"/>
                <a:cs typeface="Arial MT"/>
              </a:rPr>
              <a:t>LAYER</a:t>
            </a:r>
            <a:endParaRPr sz="1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89255" algn="l"/>
              </a:tabLst>
            </a:pPr>
            <a:r>
              <a:rPr dirty="0" sz="1600" spc="-400">
                <a:solidFill>
                  <a:srgbClr val="242424"/>
                </a:solidFill>
                <a:latin typeface="Arial MT"/>
                <a:cs typeface="Arial MT"/>
              </a:rPr>
              <a:t>)</a:t>
            </a:r>
            <a:r>
              <a:rPr dirty="0" sz="1600">
                <a:solidFill>
                  <a:srgbClr val="242424"/>
                </a:solidFill>
                <a:latin typeface="Arial MT"/>
                <a:cs typeface="Arial MT"/>
              </a:rPr>
              <a:t>	</a:t>
            </a:r>
            <a:r>
              <a:rPr dirty="0" sz="1600" spc="-150">
                <a:solidFill>
                  <a:srgbClr val="242424"/>
                </a:solidFill>
                <a:latin typeface="Arial MT"/>
                <a:cs typeface="Arial MT"/>
              </a:rPr>
              <a:t>ATM</a:t>
            </a:r>
            <a:r>
              <a:rPr dirty="0" sz="1600" spc="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55">
                <a:solidFill>
                  <a:srgbClr val="242424"/>
                </a:solidFill>
                <a:latin typeface="Arial MT"/>
                <a:cs typeface="Arial MT"/>
              </a:rPr>
              <a:t>Controller</a:t>
            </a:r>
            <a:r>
              <a:rPr dirty="0" sz="1600" spc="-1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242424"/>
                </a:solidFill>
                <a:latin typeface="Arial MT"/>
                <a:cs typeface="Arial MT"/>
              </a:rPr>
              <a:t>+</a:t>
            </a:r>
            <a:r>
              <a:rPr dirty="0" sz="1600" spc="-8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40">
                <a:solidFill>
                  <a:srgbClr val="242424"/>
                </a:solidFill>
                <a:latin typeface="Arial MT"/>
                <a:cs typeface="Arial MT"/>
              </a:rPr>
              <a:t>Validation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674684" y="4545308"/>
            <a:ext cx="50165" cy="2743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00" spc="-400">
                <a:solidFill>
                  <a:srgbClr val="242424"/>
                </a:solidFill>
                <a:latin typeface="Arial MT"/>
                <a:cs typeface="Arial MT"/>
              </a:rPr>
              <a:t>)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72951" y="5560687"/>
            <a:ext cx="2626995" cy="54610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algn="ctr" marR="45085">
              <a:lnSpc>
                <a:spcPct val="100000"/>
              </a:lnSpc>
              <a:spcBef>
                <a:spcPts val="229"/>
              </a:spcBef>
            </a:pPr>
            <a:r>
              <a:rPr dirty="0" sz="1600" spc="-200">
                <a:solidFill>
                  <a:srgbClr val="242424"/>
                </a:solidFill>
                <a:latin typeface="Arial MT"/>
                <a:cs typeface="Arial MT"/>
              </a:rPr>
              <a:t>SERVICE</a:t>
            </a:r>
            <a:r>
              <a:rPr dirty="0" sz="1600" spc="11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242424"/>
                </a:solidFill>
                <a:latin typeface="Arial MT"/>
                <a:cs typeface="Arial MT"/>
              </a:rPr>
              <a:t>LAYER</a:t>
            </a:r>
            <a:endParaRPr sz="16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25"/>
              </a:spcBef>
              <a:tabLst>
                <a:tab pos="323215" algn="l"/>
              </a:tabLst>
            </a:pPr>
            <a:r>
              <a:rPr dirty="0" sz="1600" spc="-405">
                <a:solidFill>
                  <a:srgbClr val="242424"/>
                </a:solidFill>
                <a:latin typeface="Arial MT"/>
                <a:cs typeface="Arial MT"/>
              </a:rPr>
              <a:t>)</a:t>
            </a:r>
            <a:r>
              <a:rPr dirty="0" sz="1600">
                <a:solidFill>
                  <a:srgbClr val="242424"/>
                </a:solidFill>
                <a:latin typeface="Arial MT"/>
                <a:cs typeface="Arial MT"/>
              </a:rPr>
              <a:t>	</a:t>
            </a:r>
            <a:r>
              <a:rPr dirty="0" sz="1600" spc="-90">
                <a:solidFill>
                  <a:srgbClr val="242424"/>
                </a:solidFill>
                <a:latin typeface="Arial MT"/>
                <a:cs typeface="Arial MT"/>
              </a:rPr>
              <a:t>Bank</a:t>
            </a:r>
            <a:r>
              <a:rPr dirty="0" sz="160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85">
                <a:solidFill>
                  <a:srgbClr val="242424"/>
                </a:solidFill>
                <a:latin typeface="Arial MT"/>
                <a:cs typeface="Arial MT"/>
              </a:rPr>
              <a:t>Service</a:t>
            </a:r>
            <a:r>
              <a:rPr dirty="0" sz="1600" spc="-1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242424"/>
                </a:solidFill>
                <a:latin typeface="Arial MT"/>
                <a:cs typeface="Arial MT"/>
              </a:rPr>
              <a:t>+</a:t>
            </a:r>
            <a:r>
              <a:rPr dirty="0" sz="1600" spc="-12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45">
                <a:solidFill>
                  <a:srgbClr val="242424"/>
                </a:solidFill>
                <a:latin typeface="Arial MT"/>
                <a:cs typeface="Arial MT"/>
              </a:rPr>
              <a:t>Transaction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22400" y="6832578"/>
            <a:ext cx="6443345" cy="3643629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62865">
              <a:lnSpc>
                <a:spcPct val="100000"/>
              </a:lnSpc>
              <a:spcBef>
                <a:spcPts val="340"/>
              </a:spcBef>
              <a:tabLst>
                <a:tab pos="668655" algn="l"/>
              </a:tabLst>
            </a:pPr>
            <a:r>
              <a:rPr dirty="0" sz="1600" spc="-400">
                <a:solidFill>
                  <a:srgbClr val="242424"/>
                </a:solidFill>
                <a:latin typeface="Arial MT"/>
                <a:cs typeface="Arial MT"/>
              </a:rPr>
              <a:t>)</a:t>
            </a:r>
            <a:r>
              <a:rPr dirty="0" sz="1600">
                <a:solidFill>
                  <a:srgbClr val="242424"/>
                </a:solidFill>
                <a:latin typeface="Arial MT"/>
                <a:cs typeface="Arial MT"/>
              </a:rPr>
              <a:t>	</a:t>
            </a:r>
            <a:r>
              <a:rPr dirty="0" sz="1600" spc="-190">
                <a:solidFill>
                  <a:srgbClr val="242424"/>
                </a:solidFill>
                <a:latin typeface="Arial MT"/>
                <a:cs typeface="Arial MT"/>
              </a:rPr>
              <a:t>DATA</a:t>
            </a:r>
            <a:r>
              <a:rPr dirty="0" sz="1600" spc="5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242424"/>
                </a:solidFill>
                <a:latin typeface="Arial MT"/>
                <a:cs typeface="Arial MT"/>
              </a:rPr>
              <a:t>LAYER</a:t>
            </a:r>
            <a:endParaRPr sz="1600">
              <a:latin typeface="Arial MT"/>
              <a:cs typeface="Arial MT"/>
            </a:endParaRPr>
          </a:p>
          <a:p>
            <a:pPr marL="63500">
              <a:lnSpc>
                <a:spcPct val="100000"/>
              </a:lnSpc>
              <a:spcBef>
                <a:spcPts val="225"/>
              </a:spcBef>
              <a:tabLst>
                <a:tab pos="387350" algn="l"/>
              </a:tabLst>
            </a:pPr>
            <a:r>
              <a:rPr dirty="0" sz="1500" spc="-365">
                <a:solidFill>
                  <a:srgbClr val="242424"/>
                </a:solidFill>
                <a:latin typeface="Arial MT"/>
                <a:cs typeface="Arial MT"/>
              </a:rPr>
              <a:t>)</a:t>
            </a:r>
            <a:r>
              <a:rPr dirty="0" sz="1500">
                <a:solidFill>
                  <a:srgbClr val="242424"/>
                </a:solidFill>
                <a:latin typeface="Arial MT"/>
                <a:cs typeface="Arial MT"/>
              </a:rPr>
              <a:t>	</a:t>
            </a:r>
            <a:r>
              <a:rPr dirty="0" sz="1500" spc="-25">
                <a:solidFill>
                  <a:srgbClr val="242424"/>
                </a:solidFill>
                <a:latin typeface="Arial MT"/>
                <a:cs typeface="Arial MT"/>
              </a:rPr>
              <a:t>In-</a:t>
            </a:r>
            <a:r>
              <a:rPr dirty="0" sz="1500">
                <a:solidFill>
                  <a:srgbClr val="242424"/>
                </a:solidFill>
                <a:latin typeface="Arial MT"/>
                <a:cs typeface="Arial MT"/>
              </a:rPr>
              <a:t>Memory Account</a:t>
            </a:r>
            <a:r>
              <a:rPr dirty="0" sz="1500" spc="-3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242424"/>
                </a:solidFill>
                <a:latin typeface="Arial MT"/>
                <a:cs typeface="Arial MT"/>
              </a:rPr>
              <a:t>Storage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500">
              <a:latin typeface="Arial MT"/>
              <a:cs typeface="Arial MT"/>
            </a:endParaRPr>
          </a:p>
          <a:p>
            <a:pPr marL="13335">
              <a:lnSpc>
                <a:spcPct val="100000"/>
              </a:lnSpc>
            </a:pPr>
            <a:r>
              <a:rPr dirty="0" sz="1600" spc="-125">
                <a:solidFill>
                  <a:srgbClr val="242424"/>
                </a:solidFill>
                <a:latin typeface="Arial MT"/>
                <a:cs typeface="Arial MT"/>
              </a:rPr>
              <a:t>Key</a:t>
            </a:r>
            <a:r>
              <a:rPr dirty="0" sz="1600" spc="-4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70">
                <a:solidFill>
                  <a:srgbClr val="242424"/>
                </a:solidFill>
                <a:latin typeface="Arial MT"/>
                <a:cs typeface="Arial MT"/>
              </a:rPr>
              <a:t>Classes</a:t>
            </a:r>
            <a:r>
              <a:rPr dirty="0" sz="160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20">
                <a:solidFill>
                  <a:srgbClr val="242424"/>
                </a:solidFill>
                <a:latin typeface="Arial MT"/>
                <a:cs typeface="Arial MT"/>
              </a:rPr>
              <a:t>&amp;</a:t>
            </a:r>
            <a:r>
              <a:rPr dirty="0" sz="1600" spc="-21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242424"/>
                </a:solidFill>
                <a:latin typeface="Arial MT"/>
                <a:cs typeface="Arial MT"/>
              </a:rPr>
              <a:t>Responsibilities</a:t>
            </a:r>
            <a:endParaRPr sz="1600">
              <a:latin typeface="Arial MT"/>
              <a:cs typeface="Arial MT"/>
            </a:endParaRPr>
          </a:p>
          <a:p>
            <a:pPr marL="12700" marR="5080" indent="1905">
              <a:lnSpc>
                <a:spcPct val="105400"/>
              </a:lnSpc>
              <a:spcBef>
                <a:spcPts val="5"/>
              </a:spcBef>
            </a:pPr>
            <a:r>
              <a:rPr dirty="0" sz="1600" spc="-65">
                <a:solidFill>
                  <a:srgbClr val="242424"/>
                </a:solidFill>
                <a:latin typeface="Arial MT"/>
                <a:cs typeface="Arial MT"/>
              </a:rPr>
              <a:t>ClassResponsibilityATMSession</a:t>
            </a:r>
            <a:r>
              <a:rPr dirty="0" sz="1600" spc="-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70">
                <a:solidFill>
                  <a:srgbClr val="242424"/>
                </a:solidFill>
                <a:latin typeface="Arial MT"/>
                <a:cs typeface="Arial MT"/>
              </a:rPr>
              <a:t>management,</a:t>
            </a:r>
            <a:r>
              <a:rPr dirty="0" sz="1600" spc="2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45">
                <a:solidFill>
                  <a:srgbClr val="242424"/>
                </a:solidFill>
                <a:latin typeface="Arial MT"/>
                <a:cs typeface="Arial MT"/>
              </a:rPr>
              <a:t>coordinates</a:t>
            </a:r>
            <a:r>
              <a:rPr dirty="0" sz="1600" spc="6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25">
                <a:solidFill>
                  <a:srgbClr val="242424"/>
                </a:solidFill>
                <a:latin typeface="Arial MT"/>
                <a:cs typeface="Arial MT"/>
              </a:rPr>
              <a:t>all </a:t>
            </a:r>
            <a:r>
              <a:rPr dirty="0" sz="1600" spc="-55">
                <a:solidFill>
                  <a:srgbClr val="242424"/>
                </a:solidFill>
                <a:latin typeface="Arial MT"/>
                <a:cs typeface="Arial MT"/>
              </a:rPr>
              <a:t>transactionsBankManages</a:t>
            </a:r>
            <a:r>
              <a:rPr dirty="0" sz="1600" spc="-9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60">
                <a:solidFill>
                  <a:srgbClr val="242424"/>
                </a:solidFill>
                <a:latin typeface="Arial MT"/>
                <a:cs typeface="Arial MT"/>
              </a:rPr>
              <a:t>accounts,</a:t>
            </a:r>
            <a:r>
              <a:rPr dirty="0" sz="1600" spc="-2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55">
                <a:solidFill>
                  <a:srgbClr val="242424"/>
                </a:solidFill>
                <a:latin typeface="Arial MT"/>
                <a:cs typeface="Arial MT"/>
              </a:rPr>
              <a:t>provides</a:t>
            </a:r>
            <a:r>
              <a:rPr dirty="0" sz="1600" spc="4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45">
                <a:solidFill>
                  <a:srgbClr val="242424"/>
                </a:solidFill>
                <a:latin typeface="Arial MT"/>
                <a:cs typeface="Arial MT"/>
              </a:rPr>
              <a:t>lookup</a:t>
            </a:r>
            <a:r>
              <a:rPr dirty="0" sz="1600" spc="3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40">
                <a:solidFill>
                  <a:srgbClr val="242424"/>
                </a:solidFill>
                <a:latin typeface="Arial MT"/>
                <a:cs typeface="Arial MT"/>
              </a:rPr>
              <a:t>serviceAccountStores </a:t>
            </a:r>
            <a:r>
              <a:rPr dirty="0" sz="1600" spc="-70">
                <a:solidFill>
                  <a:srgbClr val="242424"/>
                </a:solidFill>
                <a:latin typeface="Arial MT"/>
                <a:cs typeface="Arial MT"/>
              </a:rPr>
              <a:t>balance,</a:t>
            </a:r>
            <a:r>
              <a:rPr dirty="0" sz="1600" spc="-1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40">
                <a:solidFill>
                  <a:srgbClr val="242424"/>
                </a:solidFill>
                <a:latin typeface="Arial MT"/>
                <a:cs typeface="Arial MT"/>
              </a:rPr>
              <a:t>validates</a:t>
            </a:r>
            <a:r>
              <a:rPr dirty="0" sz="1600" spc="3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110">
                <a:solidFill>
                  <a:srgbClr val="242424"/>
                </a:solidFill>
                <a:latin typeface="Arial MT"/>
                <a:cs typeface="Arial MT"/>
              </a:rPr>
              <a:t>PIN,</a:t>
            </a:r>
            <a:r>
              <a:rPr dirty="0" sz="1600" spc="-5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40">
                <a:solidFill>
                  <a:srgbClr val="242424"/>
                </a:solidFill>
                <a:latin typeface="Arial MT"/>
                <a:cs typeface="Arial MT"/>
              </a:rPr>
              <a:t>maintains</a:t>
            </a:r>
            <a:r>
              <a:rPr dirty="0" sz="1600" spc="3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40">
                <a:solidFill>
                  <a:srgbClr val="242424"/>
                </a:solidFill>
                <a:latin typeface="Arial MT"/>
                <a:cs typeface="Arial MT"/>
              </a:rPr>
              <a:t>historyCuuomerStores</a:t>
            </a:r>
            <a:r>
              <a:rPr dirty="0" sz="1600" spc="-15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242424"/>
                </a:solidFill>
                <a:latin typeface="Arial MT"/>
                <a:cs typeface="Arial MT"/>
              </a:rPr>
              <a:t>personal </a:t>
            </a:r>
            <a:r>
              <a:rPr dirty="0" sz="1600" spc="-30">
                <a:solidFill>
                  <a:srgbClr val="242424"/>
                </a:solidFill>
                <a:latin typeface="Arial MT"/>
                <a:cs typeface="Arial MT"/>
              </a:rPr>
              <a:t>informationTansactionAbstract</a:t>
            </a:r>
            <a:r>
              <a:rPr dirty="0" sz="1600" spc="4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75">
                <a:solidFill>
                  <a:srgbClr val="242424"/>
                </a:solidFill>
                <a:latin typeface="Arial MT"/>
                <a:cs typeface="Arial MT"/>
              </a:rPr>
              <a:t>base</a:t>
            </a:r>
            <a:r>
              <a:rPr dirty="0" sz="1600">
                <a:solidFill>
                  <a:srgbClr val="242424"/>
                </a:solidFill>
                <a:latin typeface="Arial MT"/>
                <a:cs typeface="Arial MT"/>
              </a:rPr>
              <a:t> for</a:t>
            </a:r>
            <a:r>
              <a:rPr dirty="0" sz="1600" spc="-4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25">
                <a:solidFill>
                  <a:srgbClr val="242424"/>
                </a:solidFill>
                <a:latin typeface="Arial MT"/>
                <a:cs typeface="Arial MT"/>
              </a:rPr>
              <a:t>all</a:t>
            </a:r>
            <a:r>
              <a:rPr dirty="0" sz="1600" spc="-8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40">
                <a:solidFill>
                  <a:srgbClr val="242424"/>
                </a:solidFill>
                <a:latin typeface="Arial MT"/>
                <a:cs typeface="Arial MT"/>
              </a:rPr>
              <a:t>transaction</a:t>
            </a:r>
            <a:r>
              <a:rPr dirty="0" sz="1600" spc="-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242424"/>
                </a:solidFill>
                <a:latin typeface="Arial MT"/>
                <a:cs typeface="Arial MT"/>
              </a:rPr>
              <a:t>typesWithdawal/ </a:t>
            </a:r>
            <a:r>
              <a:rPr dirty="0" sz="1600" spc="-45">
                <a:solidFill>
                  <a:srgbClr val="242424"/>
                </a:solidFill>
                <a:latin typeface="Arial MT"/>
                <a:cs typeface="Arial MT"/>
              </a:rPr>
              <a:t>Deposit/TransferSpecific</a:t>
            </a:r>
            <a:r>
              <a:rPr dirty="0" sz="1600" spc="-7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40">
                <a:solidFill>
                  <a:srgbClr val="242424"/>
                </a:solidFill>
                <a:latin typeface="Arial MT"/>
                <a:cs typeface="Arial MT"/>
              </a:rPr>
              <a:t>transaction</a:t>
            </a:r>
            <a:r>
              <a:rPr dirty="0" sz="1600" spc="13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242424"/>
                </a:solidFill>
                <a:latin typeface="Arial MT"/>
                <a:cs typeface="Arial MT"/>
              </a:rPr>
              <a:t>logic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80">
                <a:solidFill>
                  <a:srgbClr val="242424"/>
                </a:solidFill>
                <a:latin typeface="Arial MT"/>
                <a:cs typeface="Arial MT"/>
              </a:rPr>
              <a:t>Package</a:t>
            </a:r>
            <a:r>
              <a:rPr dirty="0" sz="1600" spc="2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242424"/>
                </a:solidFill>
                <a:latin typeface="Arial MT"/>
                <a:cs typeface="Arial MT"/>
              </a:rPr>
              <a:t>Structuretext</a:t>
            </a:r>
            <a:endParaRPr sz="1600">
              <a:latin typeface="Arial MT"/>
              <a:cs typeface="Arial MT"/>
            </a:endParaRPr>
          </a:p>
          <a:p>
            <a:pPr marL="18415">
              <a:lnSpc>
                <a:spcPct val="100000"/>
              </a:lnSpc>
              <a:spcBef>
                <a:spcPts val="130"/>
              </a:spcBef>
            </a:pPr>
            <a:r>
              <a:rPr dirty="0" sz="1550" spc="-20">
                <a:solidFill>
                  <a:srgbClr val="242424"/>
                </a:solidFill>
                <a:latin typeface="Arial MT"/>
                <a:cs typeface="Arial MT"/>
              </a:rPr>
              <a:t>src/</a:t>
            </a:r>
            <a:endParaRPr sz="155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90"/>
              </a:spcBef>
            </a:pPr>
            <a:r>
              <a:rPr dirty="0" sz="1650" spc="-20">
                <a:solidFill>
                  <a:srgbClr val="242424"/>
                </a:solidFill>
                <a:latin typeface="Arial MT"/>
                <a:cs typeface="Arial MT"/>
              </a:rPr>
              <a:t>atm/</a:t>
            </a:r>
            <a:endParaRPr sz="1650">
              <a:latin typeface="Arial MT"/>
              <a:cs typeface="Arial MT"/>
            </a:endParaRPr>
          </a:p>
          <a:p>
            <a:pPr marL="62865">
              <a:lnSpc>
                <a:spcPct val="100000"/>
              </a:lnSpc>
              <a:spcBef>
                <a:spcPts val="65"/>
              </a:spcBef>
              <a:tabLst>
                <a:tab pos="748665" algn="l"/>
              </a:tabLst>
            </a:pPr>
            <a:r>
              <a:rPr dirty="0" sz="1600" spc="-405">
                <a:solidFill>
                  <a:srgbClr val="242424"/>
                </a:solidFill>
                <a:latin typeface="Arial MT"/>
                <a:cs typeface="Arial MT"/>
              </a:rPr>
              <a:t>)</a:t>
            </a:r>
            <a:r>
              <a:rPr dirty="0" sz="1600">
                <a:solidFill>
                  <a:srgbClr val="242424"/>
                </a:solidFill>
                <a:latin typeface="Arial MT"/>
                <a:cs typeface="Arial MT"/>
              </a:rPr>
              <a:t>	</a:t>
            </a:r>
            <a:r>
              <a:rPr dirty="0" sz="1600" spc="-10">
                <a:solidFill>
                  <a:srgbClr val="242424"/>
                </a:solidFill>
                <a:latin typeface="Arial MT"/>
                <a:cs typeface="Arial MT"/>
              </a:rPr>
              <a:t>ATM.java</a:t>
            </a:r>
            <a:endParaRPr sz="1600">
              <a:latin typeface="Arial MT"/>
              <a:cs typeface="Arial MT"/>
            </a:endParaRPr>
          </a:p>
          <a:p>
            <a:pPr marL="62865">
              <a:lnSpc>
                <a:spcPct val="100000"/>
              </a:lnSpc>
              <a:spcBef>
                <a:spcPts val="130"/>
              </a:spcBef>
              <a:tabLst>
                <a:tab pos="342265" algn="l"/>
              </a:tabLst>
            </a:pPr>
            <a:r>
              <a:rPr dirty="0" sz="1600" spc="-405">
                <a:solidFill>
                  <a:srgbClr val="242424"/>
                </a:solidFill>
                <a:latin typeface="Arial MT"/>
                <a:cs typeface="Arial MT"/>
              </a:rPr>
              <a:t>)</a:t>
            </a:r>
            <a:r>
              <a:rPr dirty="0" sz="1600">
                <a:solidFill>
                  <a:srgbClr val="242424"/>
                </a:solidFill>
                <a:latin typeface="Arial MT"/>
                <a:cs typeface="Arial MT"/>
              </a:rPr>
              <a:t>	</a:t>
            </a:r>
            <a:r>
              <a:rPr dirty="0" sz="1600" spc="75">
                <a:solidFill>
                  <a:srgbClr val="242424"/>
                </a:solidFill>
                <a:latin typeface="Arial MT"/>
                <a:cs typeface="Arial MT"/>
              </a:rPr>
              <a:t>“ATM0perations.java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97933" y="985592"/>
            <a:ext cx="626745" cy="490855"/>
            <a:chOff x="397933" y="985592"/>
            <a:chExt cx="626745" cy="4908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3100" y="1243622"/>
              <a:ext cx="351366" cy="23265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7933" y="985592"/>
              <a:ext cx="351366" cy="232650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319778" y="173243"/>
            <a:ext cx="6960870" cy="10309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7995">
              <a:lnSpc>
                <a:spcPts val="2035"/>
              </a:lnSpc>
              <a:spcBef>
                <a:spcPts val="100"/>
              </a:spcBef>
            </a:pPr>
            <a:r>
              <a:rPr dirty="0" sz="1700" spc="-10">
                <a:solidFill>
                  <a:srgbClr val="242424"/>
                </a:solidFill>
                <a:latin typeface="Calibri"/>
                <a:cs typeface="Calibri"/>
              </a:rPr>
              <a:t>bank/</a:t>
            </a:r>
            <a:endParaRPr sz="1700">
              <a:latin typeface="Calibri"/>
              <a:cs typeface="Calibri"/>
            </a:endParaRPr>
          </a:p>
          <a:p>
            <a:pPr marL="64769">
              <a:lnSpc>
                <a:spcPts val="2014"/>
              </a:lnSpc>
              <a:tabLst>
                <a:tab pos="741045" algn="l"/>
              </a:tabLst>
            </a:pPr>
            <a:r>
              <a:rPr dirty="0" sz="1700" spc="-340">
                <a:solidFill>
                  <a:srgbClr val="242424"/>
                </a:solidFill>
                <a:latin typeface="Calibri"/>
                <a:cs typeface="Calibri"/>
              </a:rPr>
              <a:t>)</a:t>
            </a:r>
            <a:r>
              <a:rPr dirty="0" sz="1700">
                <a:solidFill>
                  <a:srgbClr val="242424"/>
                </a:solidFill>
                <a:latin typeface="Calibri"/>
                <a:cs typeface="Calibri"/>
              </a:rPr>
              <a:t>	</a:t>
            </a:r>
            <a:r>
              <a:rPr dirty="0" sz="1700" spc="-10">
                <a:solidFill>
                  <a:srgbClr val="242424"/>
                </a:solidFill>
                <a:latin typeface="Calibri"/>
                <a:cs typeface="Calibri"/>
              </a:rPr>
              <a:t>Bank.java</a:t>
            </a:r>
            <a:endParaRPr sz="1700">
              <a:latin typeface="Calibri"/>
              <a:cs typeface="Calibri"/>
            </a:endParaRPr>
          </a:p>
          <a:p>
            <a:pPr marL="64769">
              <a:lnSpc>
                <a:spcPts val="2014"/>
              </a:lnSpc>
              <a:tabLst>
                <a:tab pos="338455" algn="l"/>
              </a:tabLst>
            </a:pPr>
            <a:r>
              <a:rPr dirty="0" sz="1700" spc="-340">
                <a:solidFill>
                  <a:srgbClr val="242424"/>
                </a:solidFill>
                <a:latin typeface="Calibri"/>
                <a:cs typeface="Calibri"/>
              </a:rPr>
              <a:t>)</a:t>
            </a:r>
            <a:r>
              <a:rPr dirty="0" sz="1700">
                <a:solidFill>
                  <a:srgbClr val="242424"/>
                </a:solidFill>
                <a:latin typeface="Calibri"/>
                <a:cs typeface="Calibri"/>
              </a:rPr>
              <a:t>	</a:t>
            </a:r>
            <a:r>
              <a:rPr dirty="0" sz="1700" spc="150">
                <a:solidFill>
                  <a:srgbClr val="242424"/>
                </a:solidFill>
                <a:latin typeface="Calibri"/>
                <a:cs typeface="Calibri"/>
              </a:rPr>
              <a:t>“Account.java</a:t>
            </a:r>
            <a:endParaRPr sz="1700">
              <a:latin typeface="Calibri"/>
              <a:cs typeface="Calibri"/>
            </a:endParaRPr>
          </a:p>
          <a:p>
            <a:pPr marL="468630">
              <a:lnSpc>
                <a:spcPts val="2030"/>
              </a:lnSpc>
            </a:pPr>
            <a:r>
              <a:rPr dirty="0" sz="1700" spc="-10">
                <a:solidFill>
                  <a:srgbClr val="242424"/>
                </a:solidFill>
                <a:latin typeface="Calibri"/>
                <a:cs typeface="Calibri"/>
              </a:rPr>
              <a:t>user/</a:t>
            </a:r>
            <a:endParaRPr sz="1700">
              <a:latin typeface="Calibri"/>
              <a:cs typeface="Calibri"/>
            </a:endParaRPr>
          </a:p>
          <a:p>
            <a:pPr marL="338455" marR="4980940" indent="402590">
              <a:lnSpc>
                <a:spcPts val="2050"/>
              </a:lnSpc>
              <a:spcBef>
                <a:spcPts val="55"/>
              </a:spcBef>
            </a:pPr>
            <a:r>
              <a:rPr dirty="0" sz="1700" spc="-10">
                <a:solidFill>
                  <a:srgbClr val="242424"/>
                </a:solidFill>
                <a:latin typeface="Calibri"/>
                <a:cs typeface="Calibri"/>
              </a:rPr>
              <a:t>User.java </a:t>
            </a:r>
            <a:r>
              <a:rPr dirty="0" sz="1700" spc="140">
                <a:solidFill>
                  <a:srgbClr val="242424"/>
                </a:solidFill>
                <a:latin typeface="Calibri"/>
                <a:cs typeface="Calibri"/>
              </a:rPr>
              <a:t>“Customer.java</a:t>
            </a:r>
            <a:endParaRPr sz="1700">
              <a:latin typeface="Calibri"/>
              <a:cs typeface="Calibri"/>
            </a:endParaRPr>
          </a:p>
          <a:p>
            <a:pPr marL="467995">
              <a:lnSpc>
                <a:spcPts val="1905"/>
              </a:lnSpc>
            </a:pPr>
            <a:r>
              <a:rPr dirty="0" sz="1700" spc="-10">
                <a:solidFill>
                  <a:srgbClr val="242424"/>
                </a:solidFill>
                <a:latin typeface="Calibri"/>
                <a:cs typeface="Calibri"/>
              </a:rPr>
              <a:t>transaction/</a:t>
            </a:r>
            <a:endParaRPr sz="1700">
              <a:latin typeface="Calibri"/>
              <a:cs typeface="Calibri"/>
            </a:endParaRPr>
          </a:p>
          <a:p>
            <a:pPr marL="64769">
              <a:lnSpc>
                <a:spcPts val="2030"/>
              </a:lnSpc>
              <a:tabLst>
                <a:tab pos="749300" algn="l"/>
              </a:tabLst>
            </a:pPr>
            <a:r>
              <a:rPr dirty="0" sz="1700" spc="-340">
                <a:solidFill>
                  <a:srgbClr val="242424"/>
                </a:solidFill>
                <a:latin typeface="Calibri"/>
                <a:cs typeface="Calibri"/>
              </a:rPr>
              <a:t>)</a:t>
            </a:r>
            <a:r>
              <a:rPr dirty="0" sz="1700">
                <a:solidFill>
                  <a:srgbClr val="242424"/>
                </a:solidFill>
                <a:latin typeface="Calibri"/>
                <a:cs typeface="Calibri"/>
              </a:rPr>
              <a:t>	</a:t>
            </a:r>
            <a:r>
              <a:rPr dirty="0" sz="1700" spc="-10">
                <a:solidFill>
                  <a:srgbClr val="242424"/>
                </a:solidFill>
                <a:latin typeface="Calibri"/>
                <a:cs typeface="Calibri"/>
              </a:rPr>
              <a:t>Transaction.java</a:t>
            </a:r>
            <a:endParaRPr sz="1700">
              <a:latin typeface="Calibri"/>
              <a:cs typeface="Calibri"/>
            </a:endParaRPr>
          </a:p>
          <a:p>
            <a:pPr marL="64769">
              <a:lnSpc>
                <a:spcPts val="2030"/>
              </a:lnSpc>
              <a:tabLst>
                <a:tab pos="744220" algn="l"/>
              </a:tabLst>
            </a:pPr>
            <a:r>
              <a:rPr dirty="0" sz="1700" spc="-340">
                <a:solidFill>
                  <a:srgbClr val="242424"/>
                </a:solidFill>
                <a:latin typeface="Calibri"/>
                <a:cs typeface="Calibri"/>
              </a:rPr>
              <a:t>)</a:t>
            </a:r>
            <a:r>
              <a:rPr dirty="0" sz="1700">
                <a:solidFill>
                  <a:srgbClr val="242424"/>
                </a:solidFill>
                <a:latin typeface="Calibri"/>
                <a:cs typeface="Calibri"/>
              </a:rPr>
              <a:t>	</a:t>
            </a:r>
            <a:r>
              <a:rPr dirty="0" sz="1700" spc="-10">
                <a:solidFill>
                  <a:srgbClr val="242424"/>
                </a:solidFill>
                <a:latin typeface="Calibri"/>
                <a:cs typeface="Calibri"/>
              </a:rPr>
              <a:t>Withdrawal.java</a:t>
            </a:r>
            <a:endParaRPr sz="1700">
              <a:latin typeface="Calibri"/>
              <a:cs typeface="Calibri"/>
            </a:endParaRPr>
          </a:p>
          <a:p>
            <a:pPr marL="64769">
              <a:lnSpc>
                <a:spcPts val="2005"/>
              </a:lnSpc>
              <a:tabLst>
                <a:tab pos="741045" algn="l"/>
              </a:tabLst>
            </a:pPr>
            <a:r>
              <a:rPr dirty="0" sz="1700" spc="-340">
                <a:solidFill>
                  <a:srgbClr val="242424"/>
                </a:solidFill>
                <a:latin typeface="Calibri"/>
                <a:cs typeface="Calibri"/>
              </a:rPr>
              <a:t>)</a:t>
            </a:r>
            <a:r>
              <a:rPr dirty="0" sz="1700">
                <a:solidFill>
                  <a:srgbClr val="242424"/>
                </a:solidFill>
                <a:latin typeface="Calibri"/>
                <a:cs typeface="Calibri"/>
              </a:rPr>
              <a:t>	</a:t>
            </a:r>
            <a:r>
              <a:rPr dirty="0" sz="1700" spc="-10">
                <a:solidFill>
                  <a:srgbClr val="242424"/>
                </a:solidFill>
                <a:latin typeface="Calibri"/>
                <a:cs typeface="Calibri"/>
              </a:rPr>
              <a:t>Deposit.java</a:t>
            </a:r>
            <a:endParaRPr sz="1700">
              <a:latin typeface="Calibri"/>
              <a:cs typeface="Calibri"/>
            </a:endParaRPr>
          </a:p>
          <a:p>
            <a:pPr marL="64769">
              <a:lnSpc>
                <a:spcPts val="2010"/>
              </a:lnSpc>
              <a:tabLst>
                <a:tab pos="338455" algn="l"/>
              </a:tabLst>
            </a:pPr>
            <a:r>
              <a:rPr dirty="0" sz="1700" spc="-340">
                <a:solidFill>
                  <a:srgbClr val="242424"/>
                </a:solidFill>
                <a:latin typeface="Calibri"/>
                <a:cs typeface="Calibri"/>
              </a:rPr>
              <a:t>)</a:t>
            </a:r>
            <a:r>
              <a:rPr dirty="0" sz="1700">
                <a:solidFill>
                  <a:srgbClr val="242424"/>
                </a:solidFill>
                <a:latin typeface="Calibri"/>
                <a:cs typeface="Calibri"/>
              </a:rPr>
              <a:t>	</a:t>
            </a:r>
            <a:r>
              <a:rPr dirty="0" sz="1700" spc="140">
                <a:solidFill>
                  <a:srgbClr val="242424"/>
                </a:solidFill>
                <a:latin typeface="Calibri"/>
                <a:cs typeface="Calibri"/>
              </a:rPr>
              <a:t>“Transfer.java</a:t>
            </a:r>
            <a:endParaRPr sz="1700">
              <a:latin typeface="Calibri"/>
              <a:cs typeface="Calibri"/>
            </a:endParaRPr>
          </a:p>
          <a:p>
            <a:pPr marL="260350" marR="4382135" indent="-190500">
              <a:lnSpc>
                <a:spcPct val="105000"/>
              </a:lnSpc>
              <a:spcBef>
                <a:spcPts val="30"/>
              </a:spcBef>
            </a:pPr>
            <a:r>
              <a:rPr dirty="0" sz="1600" spc="170">
                <a:solidFill>
                  <a:srgbClr val="242424"/>
                </a:solidFill>
                <a:latin typeface="Arial MT"/>
                <a:cs typeface="Arial MT"/>
              </a:rPr>
              <a:t>“exceptions/ </a:t>
            </a:r>
            <a:r>
              <a:rPr dirty="0" sz="1600" spc="50">
                <a:solidFill>
                  <a:srgbClr val="242424"/>
                </a:solidFill>
                <a:latin typeface="Arial MT"/>
                <a:cs typeface="Arial MT"/>
              </a:rPr>
              <a:t>“BankingException.java</a:t>
            </a:r>
            <a:endParaRPr sz="1600">
              <a:latin typeface="Arial MT"/>
              <a:cs typeface="Arial MT"/>
            </a:endParaRPr>
          </a:p>
          <a:p>
            <a:pPr marL="17780">
              <a:lnSpc>
                <a:spcPct val="100000"/>
              </a:lnSpc>
              <a:spcBef>
                <a:spcPts val="60"/>
              </a:spcBef>
            </a:pPr>
            <a:r>
              <a:rPr dirty="0" sz="1650" spc="-180">
                <a:solidFill>
                  <a:srgbClr val="242424"/>
                </a:solidFill>
                <a:latin typeface="Arial MT"/>
                <a:cs typeface="Arial MT"/>
              </a:rPr>
              <a:t>SLIDE</a:t>
            </a:r>
            <a:r>
              <a:rPr dirty="0" sz="1650" spc="-9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242424"/>
                </a:solidFill>
                <a:latin typeface="Arial MT"/>
                <a:cs typeface="Arial MT"/>
              </a:rPr>
              <a:t>3</a:t>
            </a:r>
            <a:r>
              <a:rPr dirty="0" sz="1650" spc="-1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242424"/>
                </a:solidFill>
                <a:latin typeface="Arial MT"/>
                <a:cs typeface="Arial MT"/>
              </a:rPr>
              <a:t>-</a:t>
            </a:r>
            <a:r>
              <a:rPr dirty="0" sz="1650" spc="37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50" spc="-229">
                <a:solidFill>
                  <a:srgbClr val="242424"/>
                </a:solidFill>
                <a:latin typeface="Arial MT"/>
                <a:cs typeface="Arial MT"/>
              </a:rPr>
              <a:t>OOP</a:t>
            </a:r>
            <a:r>
              <a:rPr dirty="0" sz="1650" spc="-114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50" spc="-229">
                <a:solidFill>
                  <a:srgbClr val="242424"/>
                </a:solidFill>
                <a:latin typeface="Arial MT"/>
                <a:cs typeface="Arial MT"/>
              </a:rPr>
              <a:t>CONCEPTS</a:t>
            </a:r>
            <a:r>
              <a:rPr dirty="0" sz="1650" spc="6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50" spc="-240">
                <a:solidFill>
                  <a:srgbClr val="242424"/>
                </a:solidFill>
                <a:latin typeface="Arial MT"/>
                <a:cs typeface="Arial MT"/>
              </a:rPr>
              <a:t>USED</a:t>
            </a:r>
            <a:r>
              <a:rPr dirty="0" sz="1650" spc="-5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50" spc="-45">
                <a:solidFill>
                  <a:srgbClr val="242424"/>
                </a:solidFill>
                <a:latin typeface="Arial MT"/>
                <a:cs typeface="Arial MT"/>
              </a:rPr>
              <a:t>(1</a:t>
            </a:r>
            <a:r>
              <a:rPr dirty="0" sz="1650" spc="-114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50" spc="-35">
                <a:solidFill>
                  <a:srgbClr val="242424"/>
                </a:solidFill>
                <a:latin typeface="Arial MT"/>
                <a:cs typeface="Arial MT"/>
              </a:rPr>
              <a:t>minute)AbuactionWhere:</a:t>
            </a:r>
            <a:r>
              <a:rPr dirty="0" sz="1650" spc="-15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50" spc="-30">
                <a:solidFill>
                  <a:srgbClr val="242424"/>
                </a:solidFill>
                <a:latin typeface="Arial MT"/>
                <a:cs typeface="Arial MT"/>
              </a:rPr>
              <a:t>ATMOperations</a:t>
            </a:r>
            <a:endParaRPr sz="1650">
              <a:latin typeface="Arial MT"/>
              <a:cs typeface="Arial MT"/>
            </a:endParaRPr>
          </a:p>
          <a:p>
            <a:pPr marL="17780">
              <a:lnSpc>
                <a:spcPct val="100000"/>
              </a:lnSpc>
              <a:spcBef>
                <a:spcPts val="135"/>
              </a:spcBef>
            </a:pPr>
            <a:r>
              <a:rPr dirty="0" sz="1550" spc="-25">
                <a:solidFill>
                  <a:srgbClr val="242424"/>
                </a:solidFill>
                <a:latin typeface="Arial MT"/>
                <a:cs typeface="Arial MT"/>
              </a:rPr>
              <a:t>interface,</a:t>
            </a:r>
            <a:r>
              <a:rPr dirty="0" sz="1550" spc="-5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242424"/>
                </a:solidFill>
                <a:latin typeface="Arial MT"/>
                <a:cs typeface="Arial MT"/>
              </a:rPr>
              <a:t>abstract</a:t>
            </a:r>
            <a:r>
              <a:rPr dirty="0" sz="1550" spc="-2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35">
                <a:solidFill>
                  <a:srgbClr val="242424"/>
                </a:solidFill>
                <a:latin typeface="Arial MT"/>
                <a:cs typeface="Arial MT"/>
              </a:rPr>
              <a:t>Transaction</a:t>
            </a:r>
            <a:r>
              <a:rPr dirty="0" sz="1550" spc="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242424"/>
                </a:solidFill>
                <a:latin typeface="Arial MT"/>
                <a:cs typeface="Arial MT"/>
              </a:rPr>
              <a:t>class</a:t>
            </a:r>
            <a:endParaRPr sz="1550">
              <a:latin typeface="Arial MT"/>
              <a:cs typeface="Arial MT"/>
            </a:endParaRPr>
          </a:p>
          <a:p>
            <a:pPr marL="19685">
              <a:lnSpc>
                <a:spcPct val="100000"/>
              </a:lnSpc>
              <a:spcBef>
                <a:spcPts val="70"/>
              </a:spcBef>
            </a:pPr>
            <a:r>
              <a:rPr dirty="0" sz="1650" spc="-20">
                <a:solidFill>
                  <a:srgbClr val="242424"/>
                </a:solidFill>
                <a:latin typeface="Arial MT"/>
                <a:cs typeface="Arial MT"/>
              </a:rPr>
              <a:t>java</a:t>
            </a:r>
            <a:endParaRPr sz="1650">
              <a:latin typeface="Arial MT"/>
              <a:cs typeface="Arial MT"/>
            </a:endParaRPr>
          </a:p>
          <a:p>
            <a:pPr marL="208279" marR="3806190" indent="-191135">
              <a:lnSpc>
                <a:spcPct val="105000"/>
              </a:lnSpc>
              <a:spcBef>
                <a:spcPts val="10"/>
              </a:spcBef>
            </a:pPr>
            <a:r>
              <a:rPr dirty="0" sz="1600" spc="-25">
                <a:solidFill>
                  <a:srgbClr val="242424"/>
                </a:solidFill>
                <a:latin typeface="Arial MT"/>
                <a:cs typeface="Arial MT"/>
              </a:rPr>
              <a:t>public</a:t>
            </a:r>
            <a:r>
              <a:rPr dirty="0" sz="1600" spc="-6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30">
                <a:solidFill>
                  <a:srgbClr val="242424"/>
                </a:solidFill>
                <a:latin typeface="Arial MT"/>
                <a:cs typeface="Arial MT"/>
              </a:rPr>
              <a:t>interface</a:t>
            </a:r>
            <a:r>
              <a:rPr dirty="0" sz="1600" spc="-5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85">
                <a:solidFill>
                  <a:srgbClr val="242424"/>
                </a:solidFill>
                <a:latin typeface="Arial MT"/>
                <a:cs typeface="Arial MT"/>
              </a:rPr>
              <a:t>ATMOperations</a:t>
            </a:r>
            <a:r>
              <a:rPr dirty="0" sz="1600" spc="2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50">
                <a:solidFill>
                  <a:srgbClr val="242424"/>
                </a:solidFill>
                <a:latin typeface="Arial MT"/>
                <a:cs typeface="Arial MT"/>
              </a:rPr>
              <a:t>{ boolean</a:t>
            </a:r>
            <a:r>
              <a:rPr dirty="0" sz="160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45">
                <a:solidFill>
                  <a:srgbClr val="242424"/>
                </a:solidFill>
                <a:latin typeface="Arial MT"/>
                <a:cs typeface="Arial MT"/>
              </a:rPr>
              <a:t>withdraw(double</a:t>
            </a:r>
            <a:r>
              <a:rPr dirty="0" sz="1600" spc="-7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50">
                <a:solidFill>
                  <a:srgbClr val="242424"/>
                </a:solidFill>
                <a:latin typeface="Arial MT"/>
                <a:cs typeface="Arial MT"/>
              </a:rPr>
              <a:t>amount); boolean</a:t>
            </a:r>
            <a:r>
              <a:rPr dirty="0" sz="1600" spc="1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45">
                <a:solidFill>
                  <a:srgbClr val="242424"/>
                </a:solidFill>
                <a:latin typeface="Arial MT"/>
                <a:cs typeface="Arial MT"/>
              </a:rPr>
              <a:t>deposit(double</a:t>
            </a:r>
            <a:r>
              <a:rPr dirty="0" sz="1600" spc="-6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242424"/>
                </a:solidFill>
                <a:latin typeface="Arial MT"/>
                <a:cs typeface="Arial MT"/>
              </a:rPr>
              <a:t>amount);</a:t>
            </a:r>
            <a:endParaRPr sz="1600">
              <a:latin typeface="Arial MT"/>
              <a:cs typeface="Arial MT"/>
            </a:endParaRPr>
          </a:p>
          <a:p>
            <a:pPr marL="208915">
              <a:lnSpc>
                <a:spcPct val="100000"/>
              </a:lnSpc>
              <a:spcBef>
                <a:spcPts val="160"/>
              </a:spcBef>
            </a:pPr>
            <a:r>
              <a:rPr dirty="0" sz="1550" spc="-35">
                <a:solidFill>
                  <a:srgbClr val="242424"/>
                </a:solidFill>
                <a:latin typeface="Arial MT"/>
                <a:cs typeface="Arial MT"/>
              </a:rPr>
              <a:t>boolean</a:t>
            </a:r>
            <a:r>
              <a:rPr dirty="0" sz="1550" spc="-5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20">
                <a:solidFill>
                  <a:srgbClr val="242424"/>
                </a:solidFill>
                <a:latin typeface="Arial MT"/>
                <a:cs typeface="Arial MT"/>
              </a:rPr>
              <a:t>transfer(String</a:t>
            </a:r>
            <a:r>
              <a:rPr dirty="0" sz="1550" spc="-7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20">
                <a:solidFill>
                  <a:srgbClr val="242424"/>
                </a:solidFill>
                <a:latin typeface="Arial MT"/>
                <a:cs typeface="Arial MT"/>
              </a:rPr>
              <a:t>target,</a:t>
            </a:r>
            <a:r>
              <a:rPr dirty="0" sz="1550" spc="-7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30">
                <a:solidFill>
                  <a:srgbClr val="242424"/>
                </a:solidFill>
                <a:latin typeface="Arial MT"/>
                <a:cs typeface="Arial MT"/>
              </a:rPr>
              <a:t>double</a:t>
            </a:r>
            <a:r>
              <a:rPr dirty="0" sz="1550" spc="1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242424"/>
                </a:solidFill>
                <a:latin typeface="Arial MT"/>
                <a:cs typeface="Arial MT"/>
              </a:rPr>
              <a:t>amount);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550">
              <a:latin typeface="Arial MT"/>
              <a:cs typeface="Arial MT"/>
            </a:endParaRPr>
          </a:p>
          <a:p>
            <a:pPr marL="18415" marR="5080" indent="-1905">
              <a:lnSpc>
                <a:spcPct val="105800"/>
              </a:lnSpc>
            </a:pPr>
            <a:r>
              <a:rPr dirty="0" sz="1600" spc="-55">
                <a:solidFill>
                  <a:srgbClr val="242424"/>
                </a:solidFill>
                <a:latin typeface="Calibri"/>
                <a:cs typeface="Calibri"/>
              </a:rPr>
              <a:t>Why: </a:t>
            </a:r>
            <a:r>
              <a:rPr dirty="0" sz="1600">
                <a:solidFill>
                  <a:srgbClr val="242424"/>
                </a:solidFill>
                <a:latin typeface="Calibri"/>
                <a:cs typeface="Calibri"/>
              </a:rPr>
              <a:t>Defines</a:t>
            </a:r>
            <a:r>
              <a:rPr dirty="0" sz="1600" spc="3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42424"/>
                </a:solidFill>
                <a:latin typeface="Calibri"/>
                <a:cs typeface="Calibri"/>
              </a:rPr>
              <a:t>contract</a:t>
            </a:r>
            <a:r>
              <a:rPr dirty="0" sz="1600" spc="10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242424"/>
                </a:solidFill>
                <a:latin typeface="Calibri"/>
                <a:cs typeface="Calibri"/>
              </a:rPr>
              <a:t>without</a:t>
            </a:r>
            <a:r>
              <a:rPr dirty="0" sz="1600" spc="10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242424"/>
                </a:solidFill>
                <a:latin typeface="Calibri"/>
                <a:cs typeface="Calibri"/>
              </a:rPr>
              <a:t>implementation</a:t>
            </a:r>
            <a:r>
              <a:rPr dirty="0" sz="1600" spc="-7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42424"/>
                </a:solidFill>
                <a:latin typeface="Calibri"/>
                <a:cs typeface="Calibri"/>
              </a:rPr>
              <a:t>details,</a:t>
            </a:r>
            <a:r>
              <a:rPr dirty="0" sz="1600" spc="2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42424"/>
                </a:solidFill>
                <a:latin typeface="Calibri"/>
                <a:cs typeface="Calibri"/>
              </a:rPr>
              <a:t>enables</a:t>
            </a:r>
            <a:r>
              <a:rPr dirty="0" sz="1600" spc="5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42424"/>
                </a:solidFill>
                <a:latin typeface="Calibri"/>
                <a:cs typeface="Calibri"/>
              </a:rPr>
              <a:t>multiple</a:t>
            </a:r>
            <a:r>
              <a:rPr dirty="0" sz="1600" spc="10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42424"/>
                </a:solidFill>
                <a:latin typeface="Calibri"/>
                <a:cs typeface="Calibri"/>
              </a:rPr>
              <a:t>ATM</a:t>
            </a:r>
            <a:r>
              <a:rPr dirty="0" sz="1600" spc="-1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242424"/>
                </a:solidFill>
                <a:latin typeface="Calibri"/>
                <a:cs typeface="Calibri"/>
              </a:rPr>
              <a:t>types InheritanceWhere:</a:t>
            </a:r>
            <a:r>
              <a:rPr dirty="0" sz="1600" spc="-4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42424"/>
                </a:solidFill>
                <a:latin typeface="Calibri"/>
                <a:cs typeface="Calibri"/>
              </a:rPr>
              <a:t>Transaction</a:t>
            </a:r>
            <a:r>
              <a:rPr dirty="0" sz="1600" spc="31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600" spc="-110">
                <a:solidFill>
                  <a:srgbClr val="242424"/>
                </a:solidFill>
                <a:latin typeface="Calibri"/>
                <a:cs typeface="Calibri"/>
              </a:rPr>
              <a:t>-</a:t>
            </a:r>
            <a:r>
              <a:rPr dirty="0" sz="1600">
                <a:solidFill>
                  <a:srgbClr val="242424"/>
                </a:solidFill>
                <a:latin typeface="Calibri"/>
                <a:cs typeface="Calibri"/>
              </a:rPr>
              <a:t>•</a:t>
            </a:r>
            <a:r>
              <a:rPr dirty="0" sz="1600" spc="15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600" spc="-35">
                <a:solidFill>
                  <a:srgbClr val="242424"/>
                </a:solidFill>
                <a:latin typeface="Calibri"/>
                <a:cs typeface="Calibri"/>
              </a:rPr>
              <a:t>Withdrawal,</a:t>
            </a:r>
            <a:r>
              <a:rPr dirty="0" sz="1600" spc="5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42424"/>
                </a:solidFill>
                <a:latin typeface="Calibri"/>
                <a:cs typeface="Calibri"/>
              </a:rPr>
              <a:t>Deposit,</a:t>
            </a:r>
            <a:r>
              <a:rPr dirty="0" sz="1600" spc="4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242424"/>
                </a:solidFill>
                <a:latin typeface="Calibri"/>
                <a:cs typeface="Calibri"/>
              </a:rPr>
              <a:t>Transfer</a:t>
            </a:r>
            <a:endParaRPr sz="1600">
              <a:latin typeface="Calibri"/>
              <a:cs typeface="Calibri"/>
            </a:endParaRPr>
          </a:p>
          <a:p>
            <a:pPr marL="14604">
              <a:lnSpc>
                <a:spcPct val="100000"/>
              </a:lnSpc>
              <a:spcBef>
                <a:spcPts val="80"/>
              </a:spcBef>
            </a:pPr>
            <a:r>
              <a:rPr dirty="0" sz="1650" spc="-20">
                <a:solidFill>
                  <a:srgbClr val="242424"/>
                </a:solidFill>
                <a:latin typeface="Calibri"/>
                <a:cs typeface="Calibri"/>
              </a:rPr>
              <a:t>java</a:t>
            </a:r>
            <a:endParaRPr sz="1650">
              <a:latin typeface="Calibri"/>
              <a:cs typeface="Calibri"/>
            </a:endParaRPr>
          </a:p>
          <a:p>
            <a:pPr marL="15875">
              <a:lnSpc>
                <a:spcPct val="100000"/>
              </a:lnSpc>
              <a:spcBef>
                <a:spcPts val="85"/>
              </a:spcBef>
            </a:pPr>
            <a:r>
              <a:rPr dirty="0" sz="1600">
                <a:solidFill>
                  <a:srgbClr val="242424"/>
                </a:solidFill>
                <a:latin typeface="Calibri"/>
                <a:cs typeface="Calibri"/>
              </a:rPr>
              <a:t>public</a:t>
            </a:r>
            <a:r>
              <a:rPr dirty="0" sz="1600" spc="12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42424"/>
                </a:solidFill>
                <a:latin typeface="Calibri"/>
                <a:cs typeface="Calibri"/>
              </a:rPr>
              <a:t>abstract</a:t>
            </a:r>
            <a:r>
              <a:rPr dirty="0" sz="1600" spc="15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600" spc="75">
                <a:solidFill>
                  <a:srgbClr val="242424"/>
                </a:solidFill>
                <a:latin typeface="Calibri"/>
                <a:cs typeface="Calibri"/>
              </a:rPr>
              <a:t>class</a:t>
            </a:r>
            <a:r>
              <a:rPr dirty="0" sz="1600" spc="14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42424"/>
                </a:solidFill>
                <a:latin typeface="Calibri"/>
                <a:cs typeface="Calibri"/>
              </a:rPr>
              <a:t>Transaction</a:t>
            </a:r>
            <a:r>
              <a:rPr dirty="0" sz="1600" spc="114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600" spc="-50">
                <a:solidFill>
                  <a:srgbClr val="242424"/>
                </a:solidFill>
                <a:latin typeface="Calibri"/>
                <a:cs typeface="Calibri"/>
              </a:rPr>
              <a:t>{</a:t>
            </a:r>
            <a:endParaRPr sz="1600">
              <a:latin typeface="Calibri"/>
              <a:cs typeface="Calibri"/>
            </a:endParaRPr>
          </a:p>
          <a:p>
            <a:pPr marL="207010">
              <a:lnSpc>
                <a:spcPct val="100000"/>
              </a:lnSpc>
              <a:spcBef>
                <a:spcPts val="145"/>
              </a:spcBef>
            </a:pPr>
            <a:r>
              <a:rPr dirty="0" sz="1550">
                <a:solidFill>
                  <a:srgbClr val="242424"/>
                </a:solidFill>
                <a:latin typeface="Calibri"/>
                <a:cs typeface="Calibri"/>
              </a:rPr>
              <a:t>protected</a:t>
            </a:r>
            <a:r>
              <a:rPr dirty="0" sz="1550" spc="16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242424"/>
                </a:solidFill>
                <a:latin typeface="Calibri"/>
                <a:cs typeface="Calibri"/>
              </a:rPr>
              <a:t>double</a:t>
            </a:r>
            <a:r>
              <a:rPr dirty="0" sz="1550" spc="10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242424"/>
                </a:solidFill>
                <a:latin typeface="Calibri"/>
                <a:cs typeface="Calibri"/>
              </a:rPr>
              <a:t>amount;</a:t>
            </a:r>
            <a:endParaRPr sz="1550">
              <a:latin typeface="Calibri"/>
              <a:cs typeface="Calibri"/>
            </a:endParaRPr>
          </a:p>
          <a:p>
            <a:pPr marL="206375">
              <a:lnSpc>
                <a:spcPct val="100000"/>
              </a:lnSpc>
              <a:spcBef>
                <a:spcPts val="120"/>
              </a:spcBef>
            </a:pPr>
            <a:r>
              <a:rPr dirty="0" sz="1600">
                <a:solidFill>
                  <a:srgbClr val="242424"/>
                </a:solidFill>
                <a:latin typeface="Calibri"/>
                <a:cs typeface="Calibri"/>
              </a:rPr>
              <a:t>public</a:t>
            </a:r>
            <a:r>
              <a:rPr dirty="0" sz="1600" spc="7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42424"/>
                </a:solidFill>
                <a:latin typeface="Calibri"/>
                <a:cs typeface="Calibri"/>
              </a:rPr>
              <a:t>abstract</a:t>
            </a:r>
            <a:r>
              <a:rPr dirty="0" sz="1600" spc="8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42424"/>
                </a:solidFill>
                <a:latin typeface="Calibri"/>
                <a:cs typeface="Calibri"/>
              </a:rPr>
              <a:t>boolean</a:t>
            </a:r>
            <a:r>
              <a:rPr dirty="0" sz="1600" spc="4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242424"/>
                </a:solidFill>
                <a:latin typeface="Calibri"/>
                <a:cs typeface="Calibri"/>
              </a:rPr>
              <a:t>execute();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600">
              <a:latin typeface="Calibri"/>
              <a:cs typeface="Calibri"/>
            </a:endParaRPr>
          </a:p>
          <a:p>
            <a:pPr marL="198755" marR="3053080" indent="-184785">
              <a:lnSpc>
                <a:spcPts val="2030"/>
              </a:lnSpc>
            </a:pPr>
            <a:r>
              <a:rPr dirty="0" sz="1750" spc="-50">
                <a:solidFill>
                  <a:srgbClr val="242424"/>
                </a:solidFill>
                <a:latin typeface="Calibri"/>
                <a:cs typeface="Calibri"/>
              </a:rPr>
              <a:t>public</a:t>
            </a:r>
            <a:r>
              <a:rPr dirty="0" sz="1750" spc="2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242424"/>
                </a:solidFill>
                <a:latin typeface="Calibri"/>
                <a:cs typeface="Calibri"/>
              </a:rPr>
              <a:t>class </a:t>
            </a:r>
            <a:r>
              <a:rPr dirty="0" sz="1750" spc="-110">
                <a:solidFill>
                  <a:srgbClr val="242424"/>
                </a:solidFill>
                <a:latin typeface="Calibri"/>
                <a:cs typeface="Calibri"/>
              </a:rPr>
              <a:t>Withdrawal</a:t>
            </a:r>
            <a:r>
              <a:rPr dirty="0" sz="1750" spc="6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50" spc="-60">
                <a:solidFill>
                  <a:srgbClr val="242424"/>
                </a:solidFill>
                <a:latin typeface="Calibri"/>
                <a:cs typeface="Calibri"/>
              </a:rPr>
              <a:t>extends</a:t>
            </a:r>
            <a:r>
              <a:rPr dirty="0" sz="1750" spc="5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50" spc="-60">
                <a:solidFill>
                  <a:srgbClr val="242424"/>
                </a:solidFill>
                <a:latin typeface="Calibri"/>
                <a:cs typeface="Calibri"/>
              </a:rPr>
              <a:t>Transaction</a:t>
            </a:r>
            <a:r>
              <a:rPr dirty="0" sz="175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50" spc="-50">
                <a:solidFill>
                  <a:srgbClr val="242424"/>
                </a:solidFill>
                <a:latin typeface="Calibri"/>
                <a:cs typeface="Calibri"/>
              </a:rPr>
              <a:t>{ </a:t>
            </a:r>
            <a:r>
              <a:rPr dirty="0" sz="1750" spc="-10">
                <a:solidFill>
                  <a:srgbClr val="242424"/>
                </a:solidFill>
                <a:latin typeface="Calibri"/>
                <a:cs typeface="Calibri"/>
              </a:rPr>
              <a:t>@0verride</a:t>
            </a:r>
            <a:endParaRPr sz="1750">
              <a:latin typeface="Calibri"/>
              <a:cs typeface="Calibri"/>
            </a:endParaRPr>
          </a:p>
          <a:p>
            <a:pPr marL="205104">
              <a:lnSpc>
                <a:spcPts val="1935"/>
              </a:lnSpc>
            </a:pPr>
            <a:r>
              <a:rPr dirty="0" sz="1750" spc="-60">
                <a:solidFill>
                  <a:srgbClr val="242424"/>
                </a:solidFill>
                <a:latin typeface="Calibri"/>
                <a:cs typeface="Calibri"/>
              </a:rPr>
              <a:t>public</a:t>
            </a:r>
            <a:r>
              <a:rPr dirty="0" sz="175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50" spc="-85">
                <a:solidFill>
                  <a:srgbClr val="242424"/>
                </a:solidFill>
                <a:latin typeface="Calibri"/>
                <a:cs typeface="Calibri"/>
              </a:rPr>
              <a:t>boolean</a:t>
            </a:r>
            <a:r>
              <a:rPr dirty="0" sz="1750" spc="-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50" spc="-60">
                <a:solidFill>
                  <a:srgbClr val="242424"/>
                </a:solidFill>
                <a:latin typeface="Calibri"/>
                <a:cs typeface="Calibri"/>
              </a:rPr>
              <a:t>execute()</a:t>
            </a:r>
            <a:r>
              <a:rPr dirty="0" sz="1750" spc="1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50" spc="-50">
                <a:solidFill>
                  <a:srgbClr val="242424"/>
                </a:solidFill>
                <a:latin typeface="Calibri"/>
                <a:cs typeface="Calibri"/>
              </a:rPr>
              <a:t>{</a:t>
            </a:r>
            <a:endParaRPr sz="1750">
              <a:latin typeface="Calibri"/>
              <a:cs typeface="Calibri"/>
            </a:endParaRPr>
          </a:p>
          <a:p>
            <a:pPr marL="394970">
              <a:lnSpc>
                <a:spcPts val="2039"/>
              </a:lnSpc>
            </a:pPr>
            <a:r>
              <a:rPr dirty="0" sz="1750" spc="-125">
                <a:solidFill>
                  <a:srgbClr val="242424"/>
                </a:solidFill>
                <a:latin typeface="Calibri"/>
                <a:cs typeface="Calibri"/>
              </a:rPr>
              <a:t>//</a:t>
            </a:r>
            <a:r>
              <a:rPr dirty="0" sz="1750" spc="4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50" spc="-75">
                <a:solidFill>
                  <a:srgbClr val="242424"/>
                </a:solidFill>
                <a:latin typeface="Calibri"/>
                <a:cs typeface="Calibri"/>
              </a:rPr>
              <a:t>Withdrawal-</a:t>
            </a:r>
            <a:r>
              <a:rPr dirty="0" sz="1750" spc="-60">
                <a:solidFill>
                  <a:srgbClr val="242424"/>
                </a:solidFill>
                <a:latin typeface="Calibri"/>
                <a:cs typeface="Calibri"/>
              </a:rPr>
              <a:t>specific</a:t>
            </a:r>
            <a:r>
              <a:rPr dirty="0" sz="1750" spc="-1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242424"/>
                </a:solidFill>
                <a:latin typeface="Calibri"/>
                <a:cs typeface="Calibri"/>
              </a:rPr>
              <a:t>logic</a:t>
            </a:r>
            <a:endParaRPr sz="17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35"/>
              </a:spcBef>
            </a:pPr>
            <a:endParaRPr sz="1750">
              <a:latin typeface="Calibri"/>
              <a:cs typeface="Calibri"/>
            </a:endParaRPr>
          </a:p>
          <a:p>
            <a:pPr marL="12700" marR="892810" indent="3175">
              <a:lnSpc>
                <a:spcPct val="96400"/>
              </a:lnSpc>
            </a:pPr>
            <a:r>
              <a:rPr dirty="0" sz="1750" spc="-135">
                <a:solidFill>
                  <a:srgbClr val="242424"/>
                </a:solidFill>
                <a:latin typeface="Calibri"/>
                <a:cs typeface="Calibri"/>
              </a:rPr>
              <a:t>Why:</a:t>
            </a:r>
            <a:r>
              <a:rPr dirty="0" sz="1750" spc="-4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50" spc="-65">
                <a:solidFill>
                  <a:srgbClr val="242424"/>
                </a:solidFill>
                <a:latin typeface="Calibri"/>
                <a:cs typeface="Calibri"/>
              </a:rPr>
              <a:t>Code</a:t>
            </a:r>
            <a:r>
              <a:rPr dirty="0" sz="1750" spc="-3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50" spc="-65">
                <a:solidFill>
                  <a:srgbClr val="242424"/>
                </a:solidFill>
                <a:latin typeface="Calibri"/>
                <a:cs typeface="Calibri"/>
              </a:rPr>
              <a:t>reuse</a:t>
            </a:r>
            <a:r>
              <a:rPr dirty="0" sz="1750" spc="-3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50" spc="-95">
                <a:solidFill>
                  <a:srgbClr val="242424"/>
                </a:solidFill>
                <a:latin typeface="Calibri"/>
                <a:cs typeface="Calibri"/>
              </a:rPr>
              <a:t>through</a:t>
            </a:r>
            <a:r>
              <a:rPr dirty="0" sz="1750" spc="3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50" spc="-65">
                <a:solidFill>
                  <a:srgbClr val="242424"/>
                </a:solidFill>
                <a:latin typeface="Calibri"/>
                <a:cs typeface="Calibri"/>
              </a:rPr>
              <a:t>shared</a:t>
            </a:r>
            <a:r>
              <a:rPr dirty="0" sz="1750" spc="3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50" spc="-80">
                <a:solidFill>
                  <a:srgbClr val="242424"/>
                </a:solidFill>
                <a:latin typeface="Calibri"/>
                <a:cs typeface="Calibri"/>
              </a:rPr>
              <a:t>attributes</a:t>
            </a:r>
            <a:r>
              <a:rPr dirty="0" sz="1750" spc="9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50" spc="-90">
                <a:solidFill>
                  <a:srgbClr val="242424"/>
                </a:solidFill>
                <a:latin typeface="Calibri"/>
                <a:cs typeface="Calibri"/>
              </a:rPr>
              <a:t>and</a:t>
            </a:r>
            <a:r>
              <a:rPr dirty="0" sz="1750" spc="-10">
                <a:solidFill>
                  <a:srgbClr val="242424"/>
                </a:solidFill>
                <a:latin typeface="Calibri"/>
                <a:cs typeface="Calibri"/>
              </a:rPr>
              <a:t> methods </a:t>
            </a:r>
            <a:r>
              <a:rPr dirty="0" sz="1750" spc="-55">
                <a:solidFill>
                  <a:srgbClr val="242424"/>
                </a:solidFill>
                <a:latin typeface="Calibri"/>
                <a:cs typeface="Calibri"/>
              </a:rPr>
              <a:t>PolymorphismWhee:</a:t>
            </a:r>
            <a:r>
              <a:rPr dirty="0" sz="1750" spc="-6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50" spc="-55">
                <a:solidFill>
                  <a:srgbClr val="242424"/>
                </a:solidFill>
                <a:latin typeface="Calibri"/>
                <a:cs typeface="Calibri"/>
              </a:rPr>
              <a:t>Transaction</a:t>
            </a:r>
            <a:r>
              <a:rPr dirty="0" sz="1750" spc="-4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50" spc="-65">
                <a:solidFill>
                  <a:srgbClr val="242424"/>
                </a:solidFill>
                <a:latin typeface="Calibri"/>
                <a:cs typeface="Calibri"/>
              </a:rPr>
              <a:t>references</a:t>
            </a:r>
            <a:r>
              <a:rPr dirty="0" sz="1750" spc="-1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50" spc="-70">
                <a:solidFill>
                  <a:srgbClr val="242424"/>
                </a:solidFill>
                <a:latin typeface="Calibri"/>
                <a:cs typeface="Calibri"/>
              </a:rPr>
              <a:t>holding</a:t>
            </a:r>
            <a:r>
              <a:rPr dirty="0" sz="1750" spc="6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50" spc="-80">
                <a:solidFill>
                  <a:srgbClr val="242424"/>
                </a:solidFill>
                <a:latin typeface="Calibri"/>
                <a:cs typeface="Calibri"/>
              </a:rPr>
              <a:t>different</a:t>
            </a:r>
            <a:r>
              <a:rPr dirty="0" sz="1750" spc="5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242424"/>
                </a:solidFill>
                <a:latin typeface="Calibri"/>
                <a:cs typeface="Calibri"/>
              </a:rPr>
              <a:t>subtypes </a:t>
            </a:r>
            <a:r>
              <a:rPr dirty="0" sz="1750" spc="-20">
                <a:solidFill>
                  <a:srgbClr val="242424"/>
                </a:solidFill>
                <a:latin typeface="Calibri"/>
                <a:cs typeface="Calibri"/>
              </a:rPr>
              <a:t>java</a:t>
            </a:r>
            <a:endParaRPr sz="1750">
              <a:latin typeface="Calibri"/>
              <a:cs typeface="Calibri"/>
            </a:endParaRPr>
          </a:p>
          <a:p>
            <a:pPr marL="15240" marR="2597785" indent="-3175">
              <a:lnSpc>
                <a:spcPts val="2050"/>
              </a:lnSpc>
              <a:spcBef>
                <a:spcPts val="25"/>
              </a:spcBef>
              <a:tabLst>
                <a:tab pos="2821305" algn="l"/>
              </a:tabLst>
            </a:pPr>
            <a:r>
              <a:rPr dirty="0" sz="1750" spc="-50">
                <a:solidFill>
                  <a:srgbClr val="242424"/>
                </a:solidFill>
                <a:latin typeface="Calibri"/>
                <a:cs typeface="Calibri"/>
              </a:rPr>
              <a:t>List&lt;Transaction»</a:t>
            </a:r>
            <a:r>
              <a:rPr dirty="0" sz="1750" spc="-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242424"/>
                </a:solidFill>
                <a:latin typeface="Calibri"/>
                <a:cs typeface="Calibri"/>
              </a:rPr>
              <a:t>transactions</a:t>
            </a:r>
            <a:r>
              <a:rPr dirty="0" sz="1750">
                <a:solidFill>
                  <a:srgbClr val="242424"/>
                </a:solidFill>
                <a:latin typeface="Calibri"/>
                <a:cs typeface="Calibri"/>
              </a:rPr>
              <a:t>	</a:t>
            </a:r>
            <a:r>
              <a:rPr dirty="0" sz="1750" spc="-110">
                <a:solidFill>
                  <a:srgbClr val="242424"/>
                </a:solidFill>
                <a:latin typeface="Calibri"/>
                <a:cs typeface="Calibri"/>
              </a:rPr>
              <a:t>new</a:t>
            </a:r>
            <a:r>
              <a:rPr dirty="0" sz="1750" spc="1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50" spc="-55">
                <a:solidFill>
                  <a:srgbClr val="242424"/>
                </a:solidFill>
                <a:latin typeface="Calibri"/>
                <a:cs typeface="Calibri"/>
              </a:rPr>
              <a:t>ArrayList&lt;»(); </a:t>
            </a:r>
            <a:r>
              <a:rPr dirty="0" sz="1750" spc="-65">
                <a:solidFill>
                  <a:srgbClr val="242424"/>
                </a:solidFill>
                <a:latin typeface="Calibri"/>
                <a:cs typeface="Calibri"/>
              </a:rPr>
              <a:t>transactions.add(new</a:t>
            </a:r>
            <a:r>
              <a:rPr dirty="0" sz="1750" spc="6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50" spc="-90">
                <a:solidFill>
                  <a:srgbClr val="242424"/>
                </a:solidFill>
                <a:latin typeface="Calibri"/>
                <a:cs typeface="Calibri"/>
              </a:rPr>
              <a:t>Withdrawal(500,</a:t>
            </a:r>
            <a:r>
              <a:rPr dirty="0" sz="1750" spc="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242424"/>
                </a:solidFill>
                <a:latin typeface="Calibri"/>
                <a:cs typeface="Calibri"/>
              </a:rPr>
              <a:t>account));</a:t>
            </a:r>
            <a:endParaRPr sz="1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08100" y="173775"/>
            <a:ext cx="6943090" cy="10050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0" marR="2950845">
              <a:lnSpc>
                <a:spcPct val="105800"/>
              </a:lnSpc>
              <a:spcBef>
                <a:spcPts val="100"/>
              </a:spcBef>
            </a:pPr>
            <a:r>
              <a:rPr dirty="0" sz="1600" spc="-50">
                <a:solidFill>
                  <a:srgbClr val="242424"/>
                </a:solidFill>
                <a:latin typeface="Arial MT"/>
                <a:cs typeface="Arial MT"/>
              </a:rPr>
              <a:t>transactions.add(new</a:t>
            </a:r>
            <a:r>
              <a:rPr dirty="0" sz="1600" spc="-60">
                <a:solidFill>
                  <a:srgbClr val="242424"/>
                </a:solidFill>
                <a:latin typeface="Arial MT"/>
                <a:cs typeface="Arial MT"/>
              </a:rPr>
              <a:t> Deposit(200,</a:t>
            </a:r>
            <a:r>
              <a:rPr dirty="0" sz="1600" spc="6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30">
                <a:solidFill>
                  <a:srgbClr val="242424"/>
                </a:solidFill>
                <a:latin typeface="Arial MT"/>
                <a:cs typeface="Arial MT"/>
              </a:rPr>
              <a:t>account)); </a:t>
            </a:r>
            <a:r>
              <a:rPr dirty="0" sz="1600" spc="-50">
                <a:solidFill>
                  <a:srgbClr val="242424"/>
                </a:solidFill>
                <a:latin typeface="Arial MT"/>
                <a:cs typeface="Arial MT"/>
              </a:rPr>
              <a:t>transactions.add(new</a:t>
            </a:r>
            <a:r>
              <a:rPr dirty="0" sz="1600" spc="-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65">
                <a:solidFill>
                  <a:srgbClr val="242424"/>
                </a:solidFill>
                <a:latin typeface="Arial MT"/>
                <a:cs typeface="Arial MT"/>
              </a:rPr>
              <a:t>Transfer(300,</a:t>
            </a:r>
            <a:r>
              <a:rPr dirty="0" sz="1600" spc="3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70">
                <a:solidFill>
                  <a:srgbClr val="242424"/>
                </a:solidFill>
                <a:latin typeface="Arial MT"/>
                <a:cs typeface="Arial MT"/>
              </a:rPr>
              <a:t>src,</a:t>
            </a:r>
            <a:r>
              <a:rPr dirty="0" sz="1600" spc="-12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242424"/>
                </a:solidFill>
                <a:latin typeface="Arial MT"/>
                <a:cs typeface="Arial MT"/>
              </a:rPr>
              <a:t>tgt));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600">
              <a:latin typeface="Arial MT"/>
              <a:cs typeface="Arial MT"/>
            </a:endParaRPr>
          </a:p>
          <a:p>
            <a:pPr marL="317500" marR="3153410" indent="-184785">
              <a:lnSpc>
                <a:spcPct val="105000"/>
              </a:lnSpc>
            </a:pPr>
            <a:r>
              <a:rPr dirty="0" sz="1600">
                <a:solidFill>
                  <a:srgbClr val="242424"/>
                </a:solidFill>
                <a:latin typeface="Arial MT"/>
                <a:cs typeface="Arial MT"/>
              </a:rPr>
              <a:t>for</a:t>
            </a:r>
            <a:r>
              <a:rPr dirty="0" sz="1600" spc="-7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60">
                <a:solidFill>
                  <a:srgbClr val="242424"/>
                </a:solidFill>
                <a:latin typeface="Arial MT"/>
                <a:cs typeface="Arial MT"/>
              </a:rPr>
              <a:t>(Transaction</a:t>
            </a:r>
            <a:r>
              <a:rPr dirty="0" sz="1600" spc="-2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242424"/>
                </a:solidFill>
                <a:latin typeface="Arial MT"/>
                <a:cs typeface="Arial MT"/>
              </a:rPr>
              <a:t>t</a:t>
            </a:r>
            <a:r>
              <a:rPr dirty="0" sz="1600" spc="-10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242424"/>
                </a:solidFill>
                <a:latin typeface="Arial MT"/>
                <a:cs typeface="Arial MT"/>
              </a:rPr>
              <a:t>:</a:t>
            </a:r>
            <a:r>
              <a:rPr dirty="0" sz="1600" spc="-15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40">
                <a:solidFill>
                  <a:srgbClr val="242424"/>
                </a:solidFill>
                <a:latin typeface="Arial MT"/>
                <a:cs typeface="Arial MT"/>
              </a:rPr>
              <a:t>transactions)</a:t>
            </a:r>
            <a:r>
              <a:rPr dirty="0" sz="1600" spc="7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50">
                <a:solidFill>
                  <a:srgbClr val="242424"/>
                </a:solidFill>
                <a:latin typeface="Arial MT"/>
                <a:cs typeface="Arial MT"/>
              </a:rPr>
              <a:t>{ </a:t>
            </a:r>
            <a:r>
              <a:rPr dirty="0" sz="1600" spc="-45">
                <a:solidFill>
                  <a:srgbClr val="242424"/>
                </a:solidFill>
                <a:latin typeface="Arial MT"/>
                <a:cs typeface="Arial MT"/>
              </a:rPr>
              <a:t>t.execute();</a:t>
            </a:r>
            <a:r>
              <a:rPr dirty="0" sz="1600" spc="14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242424"/>
                </a:solidFill>
                <a:latin typeface="Arial MT"/>
                <a:cs typeface="Arial MT"/>
              </a:rPr>
              <a:t>//</a:t>
            </a:r>
            <a:r>
              <a:rPr dirty="0" sz="1600" spc="14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40">
                <a:solidFill>
                  <a:srgbClr val="242424"/>
                </a:solidFill>
                <a:latin typeface="Arial MT"/>
                <a:cs typeface="Arial MT"/>
              </a:rPr>
              <a:t>Different</a:t>
            </a:r>
            <a:r>
              <a:rPr dirty="0" sz="160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55">
                <a:solidFill>
                  <a:srgbClr val="242424"/>
                </a:solidFill>
                <a:latin typeface="Arial MT"/>
                <a:cs typeface="Arial MT"/>
              </a:rPr>
              <a:t>behavior</a:t>
            </a:r>
            <a:r>
              <a:rPr dirty="0" sz="160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100">
                <a:solidFill>
                  <a:srgbClr val="242424"/>
                </a:solidFill>
                <a:latin typeface="Arial MT"/>
                <a:cs typeface="Arial MT"/>
              </a:rPr>
              <a:t>per</a:t>
            </a:r>
            <a:r>
              <a:rPr dirty="0" sz="1600" spc="-25">
                <a:solidFill>
                  <a:srgbClr val="242424"/>
                </a:solidFill>
                <a:latin typeface="Arial MT"/>
                <a:cs typeface="Arial MT"/>
              </a:rPr>
              <a:t> type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600">
              <a:latin typeface="Arial MT"/>
              <a:cs typeface="Arial MT"/>
            </a:endParaRPr>
          </a:p>
          <a:p>
            <a:pPr marL="132080">
              <a:lnSpc>
                <a:spcPct val="100000"/>
              </a:lnSpc>
            </a:pPr>
            <a:r>
              <a:rPr dirty="0" sz="1600" spc="-120">
                <a:solidFill>
                  <a:srgbClr val="242424"/>
                </a:solidFill>
                <a:latin typeface="Arial MT"/>
                <a:cs typeface="Arial MT"/>
              </a:rPr>
              <a:t>Why:</a:t>
            </a:r>
            <a:r>
              <a:rPr dirty="0" sz="1600" spc="-12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55">
                <a:solidFill>
                  <a:srgbClr val="242424"/>
                </a:solidFill>
                <a:latin typeface="Arial MT"/>
                <a:cs typeface="Arial MT"/>
              </a:rPr>
              <a:t>Flexible</a:t>
            </a:r>
            <a:r>
              <a:rPr dirty="0" sz="1600" spc="-6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65">
                <a:solidFill>
                  <a:srgbClr val="242424"/>
                </a:solidFill>
                <a:latin typeface="Arial MT"/>
                <a:cs typeface="Arial MT"/>
              </a:rPr>
              <a:t>code</a:t>
            </a:r>
            <a:r>
              <a:rPr dirty="0" sz="1600" spc="-4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242424"/>
                </a:solidFill>
                <a:latin typeface="Arial MT"/>
                <a:cs typeface="Arial MT"/>
              </a:rPr>
              <a:t>that</a:t>
            </a:r>
            <a:r>
              <a:rPr dirty="0" sz="1600" spc="-9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55">
                <a:solidFill>
                  <a:srgbClr val="242424"/>
                </a:solidFill>
                <a:latin typeface="Arial MT"/>
                <a:cs typeface="Arial MT"/>
              </a:rPr>
              <a:t>handles</a:t>
            </a:r>
            <a:r>
              <a:rPr dirty="0" sz="1600" spc="1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95">
                <a:solidFill>
                  <a:srgbClr val="242424"/>
                </a:solidFill>
                <a:latin typeface="Arial MT"/>
                <a:cs typeface="Arial MT"/>
              </a:rPr>
              <a:t>any</a:t>
            </a:r>
            <a:r>
              <a:rPr dirty="0" sz="1600" spc="-7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40">
                <a:solidFill>
                  <a:srgbClr val="242424"/>
                </a:solidFill>
                <a:latin typeface="Arial MT"/>
                <a:cs typeface="Arial MT"/>
              </a:rPr>
              <a:t>transaction</a:t>
            </a:r>
            <a:r>
              <a:rPr dirty="0" sz="1600" spc="-1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50">
                <a:solidFill>
                  <a:srgbClr val="242424"/>
                </a:solidFill>
                <a:latin typeface="Arial MT"/>
                <a:cs typeface="Arial MT"/>
              </a:rPr>
              <a:t>type</a:t>
            </a:r>
            <a:r>
              <a:rPr dirty="0" sz="1600" spc="-4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242424"/>
                </a:solidFill>
                <a:latin typeface="Arial MT"/>
                <a:cs typeface="Arial MT"/>
              </a:rPr>
              <a:t>uniformly</a:t>
            </a:r>
            <a:endParaRPr sz="1600">
              <a:latin typeface="Arial MT"/>
              <a:cs typeface="Arial MT"/>
            </a:endParaRPr>
          </a:p>
          <a:p>
            <a:pPr marL="127000">
              <a:lnSpc>
                <a:spcPct val="100000"/>
              </a:lnSpc>
              <a:spcBef>
                <a:spcPts val="110"/>
              </a:spcBef>
            </a:pPr>
            <a:r>
              <a:rPr dirty="0" sz="1600" spc="-75">
                <a:solidFill>
                  <a:srgbClr val="242424"/>
                </a:solidFill>
                <a:latin typeface="Arial MT"/>
                <a:cs typeface="Arial MT"/>
              </a:rPr>
              <a:t>Design</a:t>
            </a:r>
            <a:r>
              <a:rPr dirty="0" sz="1600" spc="-50">
                <a:solidFill>
                  <a:srgbClr val="242424"/>
                </a:solidFill>
                <a:latin typeface="Arial MT"/>
                <a:cs typeface="Arial MT"/>
              </a:rPr>
              <a:t> Paxern:</a:t>
            </a:r>
            <a:r>
              <a:rPr dirty="0" sz="1600" spc="-6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75">
                <a:solidFill>
                  <a:srgbClr val="242424"/>
                </a:solidFill>
                <a:latin typeface="Arial MT"/>
                <a:cs typeface="Arial MT"/>
              </a:rPr>
              <a:t>Strategy</a:t>
            </a:r>
            <a:r>
              <a:rPr dirty="0" sz="1600" spc="-3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85">
                <a:solidFill>
                  <a:srgbClr val="242424"/>
                </a:solidFill>
                <a:latin typeface="Arial MT"/>
                <a:cs typeface="Arial MT"/>
              </a:rPr>
              <a:t>PaxernWhere:</a:t>
            </a:r>
            <a:r>
              <a:rPr dirty="0" sz="1600" spc="-3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60">
                <a:solidFill>
                  <a:srgbClr val="242424"/>
                </a:solidFill>
                <a:latin typeface="Arial MT"/>
                <a:cs typeface="Arial MT"/>
              </a:rPr>
              <a:t>Transaction</a:t>
            </a:r>
            <a:r>
              <a:rPr dirty="0" sz="1600" spc="7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40">
                <a:solidFill>
                  <a:srgbClr val="242424"/>
                </a:solidFill>
                <a:latin typeface="Arial MT"/>
                <a:cs typeface="Arial MT"/>
              </a:rPr>
              <a:t>classes</a:t>
            </a:r>
            <a:r>
              <a:rPr dirty="0" sz="1600" spc="5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80">
                <a:solidFill>
                  <a:srgbClr val="242424"/>
                </a:solidFill>
                <a:latin typeface="Arial MT"/>
                <a:cs typeface="Arial MT"/>
              </a:rPr>
              <a:t>as</a:t>
            </a:r>
            <a:r>
              <a:rPr dirty="0" sz="1600" spc="-5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242424"/>
                </a:solidFill>
                <a:latin typeface="Arial MT"/>
                <a:cs typeface="Arial MT"/>
              </a:rPr>
              <a:t>interchangeable</a:t>
            </a:r>
            <a:endParaRPr sz="1600">
              <a:latin typeface="Arial MT"/>
              <a:cs typeface="Arial MT"/>
            </a:endParaRPr>
          </a:p>
          <a:p>
            <a:pPr marL="132715">
              <a:lnSpc>
                <a:spcPct val="100000"/>
              </a:lnSpc>
              <a:spcBef>
                <a:spcPts val="180"/>
              </a:spcBef>
            </a:pPr>
            <a:r>
              <a:rPr dirty="0" sz="1550" spc="-10">
                <a:solidFill>
                  <a:srgbClr val="242424"/>
                </a:solidFill>
                <a:latin typeface="Arial MT"/>
                <a:cs typeface="Arial MT"/>
              </a:rPr>
              <a:t>strategies</a:t>
            </a:r>
            <a:endParaRPr sz="1550">
              <a:latin typeface="Arial MT"/>
              <a:cs typeface="Arial MT"/>
            </a:endParaRPr>
          </a:p>
          <a:p>
            <a:pPr marL="132080">
              <a:lnSpc>
                <a:spcPct val="100000"/>
              </a:lnSpc>
              <a:spcBef>
                <a:spcPts val="105"/>
              </a:spcBef>
            </a:pPr>
            <a:r>
              <a:rPr dirty="0" sz="1600" spc="-120">
                <a:solidFill>
                  <a:srgbClr val="242424"/>
                </a:solidFill>
                <a:latin typeface="Arial MT"/>
                <a:cs typeface="Arial MT"/>
              </a:rPr>
              <a:t>Why: </a:t>
            </a:r>
            <a:r>
              <a:rPr dirty="0" sz="1600" spc="-55">
                <a:solidFill>
                  <a:srgbClr val="242424"/>
                </a:solidFill>
                <a:latin typeface="Arial MT"/>
                <a:cs typeface="Arial MT"/>
              </a:rPr>
              <a:t>Encapsulates</a:t>
            </a:r>
            <a:r>
              <a:rPr dirty="0" sz="1600" spc="-3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30">
                <a:solidFill>
                  <a:srgbClr val="242424"/>
                </a:solidFill>
                <a:latin typeface="Arial MT"/>
                <a:cs typeface="Arial MT"/>
              </a:rPr>
              <a:t>different</a:t>
            </a:r>
            <a:r>
              <a:rPr dirty="0" sz="160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40">
                <a:solidFill>
                  <a:srgbClr val="242424"/>
                </a:solidFill>
                <a:latin typeface="Arial MT"/>
                <a:cs typeface="Arial MT"/>
              </a:rPr>
              <a:t>transaction</a:t>
            </a:r>
            <a:r>
              <a:rPr dirty="0" sz="1600" spc="-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50">
                <a:solidFill>
                  <a:srgbClr val="242424"/>
                </a:solidFill>
                <a:latin typeface="Arial MT"/>
                <a:cs typeface="Arial MT"/>
              </a:rPr>
              <a:t>algorithms, </a:t>
            </a:r>
            <a:r>
              <a:rPr dirty="0" sz="1600" spc="-45">
                <a:solidFill>
                  <a:srgbClr val="242424"/>
                </a:solidFill>
                <a:latin typeface="Arial MT"/>
                <a:cs typeface="Arial MT"/>
              </a:rPr>
              <a:t>easily</a:t>
            </a:r>
            <a:r>
              <a:rPr dirty="0" sz="1600" spc="-6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50">
                <a:solidFill>
                  <a:srgbClr val="242424"/>
                </a:solidFill>
                <a:latin typeface="Arial MT"/>
                <a:cs typeface="Arial MT"/>
              </a:rPr>
              <a:t>extensible</a:t>
            </a:r>
            <a:r>
              <a:rPr dirty="0" sz="1600" spc="3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242424"/>
                </a:solidFill>
                <a:latin typeface="Arial MT"/>
                <a:cs typeface="Arial MT"/>
              </a:rPr>
              <a:t>for</a:t>
            </a:r>
            <a:r>
              <a:rPr dirty="0" sz="1600" spc="-9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25">
                <a:solidFill>
                  <a:srgbClr val="242424"/>
                </a:solidFill>
                <a:latin typeface="Arial MT"/>
                <a:cs typeface="Arial MT"/>
              </a:rPr>
              <a:t>new</a:t>
            </a:r>
            <a:endParaRPr sz="1600">
              <a:latin typeface="Arial MT"/>
              <a:cs typeface="Arial MT"/>
            </a:endParaRPr>
          </a:p>
          <a:p>
            <a:pPr marL="127000">
              <a:lnSpc>
                <a:spcPts val="1855"/>
              </a:lnSpc>
              <a:spcBef>
                <a:spcPts val="145"/>
              </a:spcBef>
            </a:pPr>
            <a:r>
              <a:rPr dirty="0" sz="1550" spc="-20">
                <a:solidFill>
                  <a:srgbClr val="242424"/>
                </a:solidFill>
                <a:latin typeface="Arial MT"/>
                <a:cs typeface="Arial MT"/>
              </a:rPr>
              <a:t>transaction</a:t>
            </a:r>
            <a:r>
              <a:rPr dirty="0" sz="1550" spc="-5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242424"/>
                </a:solidFill>
                <a:latin typeface="Arial MT"/>
                <a:cs typeface="Arial MT"/>
              </a:rPr>
              <a:t>types</a:t>
            </a:r>
            <a:r>
              <a:rPr dirty="0" sz="1550" spc="-3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242424"/>
                </a:solidFill>
                <a:latin typeface="Arial MT"/>
                <a:cs typeface="Arial MT"/>
              </a:rPr>
              <a:t>without</a:t>
            </a:r>
            <a:r>
              <a:rPr dirty="0" sz="1550" spc="-3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242424"/>
                </a:solidFill>
                <a:latin typeface="Arial MT"/>
                <a:cs typeface="Arial MT"/>
              </a:rPr>
              <a:t>modifying</a:t>
            </a:r>
            <a:r>
              <a:rPr dirty="0" sz="1550" spc="1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20">
                <a:solidFill>
                  <a:srgbClr val="242424"/>
                </a:solidFill>
                <a:latin typeface="Arial MT"/>
                <a:cs typeface="Arial MT"/>
              </a:rPr>
              <a:t>existing</a:t>
            </a:r>
            <a:r>
              <a:rPr dirty="0" sz="1550" spc="-5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20">
                <a:solidFill>
                  <a:srgbClr val="242424"/>
                </a:solidFill>
                <a:latin typeface="Arial MT"/>
                <a:cs typeface="Arial MT"/>
              </a:rPr>
              <a:t>code</a:t>
            </a:r>
            <a:endParaRPr sz="1550">
              <a:latin typeface="Arial MT"/>
              <a:cs typeface="Arial MT"/>
            </a:endParaRPr>
          </a:p>
          <a:p>
            <a:pPr marL="128905">
              <a:lnSpc>
                <a:spcPts val="2035"/>
              </a:lnSpc>
            </a:pPr>
            <a:r>
              <a:rPr dirty="0" sz="1700" spc="-220">
                <a:solidFill>
                  <a:srgbClr val="242424"/>
                </a:solidFill>
                <a:latin typeface="Arial MT"/>
                <a:cs typeface="Arial MT"/>
              </a:rPr>
              <a:t>SLIDE</a:t>
            </a:r>
            <a:r>
              <a:rPr dirty="0" sz="1700" spc="-5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700" spc="-45">
                <a:solidFill>
                  <a:srgbClr val="242424"/>
                </a:solidFill>
                <a:latin typeface="Arial MT"/>
                <a:cs typeface="Arial MT"/>
              </a:rPr>
              <a:t>4</a:t>
            </a:r>
            <a:r>
              <a:rPr dirty="0" sz="1700" spc="-10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242424"/>
                </a:solidFill>
                <a:latin typeface="Arial MT"/>
                <a:cs typeface="Arial MT"/>
              </a:rPr>
              <a:t>-</a:t>
            </a:r>
            <a:r>
              <a:rPr dirty="0" sz="1700" spc="35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700" spc="-204">
                <a:solidFill>
                  <a:srgbClr val="242424"/>
                </a:solidFill>
                <a:latin typeface="Arial MT"/>
                <a:cs typeface="Arial MT"/>
              </a:rPr>
              <a:t>TECHNICAL</a:t>
            </a:r>
            <a:r>
              <a:rPr dirty="0" sz="1700" spc="2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700" spc="-190">
                <a:solidFill>
                  <a:srgbClr val="242424"/>
                </a:solidFill>
                <a:latin typeface="Arial MT"/>
                <a:cs typeface="Arial MT"/>
              </a:rPr>
              <a:t>HIGHLIGHT</a:t>
            </a:r>
            <a:r>
              <a:rPr dirty="0" sz="1700" spc="15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700" spc="-95">
                <a:solidFill>
                  <a:srgbClr val="242424"/>
                </a:solidFill>
                <a:latin typeface="Arial MT"/>
                <a:cs typeface="Arial MT"/>
              </a:rPr>
              <a:t>(1</a:t>
            </a:r>
            <a:r>
              <a:rPr dirty="0" sz="1700" spc="-105">
                <a:solidFill>
                  <a:srgbClr val="242424"/>
                </a:solidFill>
                <a:latin typeface="Arial MT"/>
                <a:cs typeface="Arial MT"/>
              </a:rPr>
              <a:t> minute)Muki-</a:t>
            </a:r>
            <a:r>
              <a:rPr dirty="0" sz="1700" spc="-100">
                <a:solidFill>
                  <a:srgbClr val="242424"/>
                </a:solidFill>
                <a:latin typeface="Arial MT"/>
                <a:cs typeface="Arial MT"/>
              </a:rPr>
              <a:t>Layer</a:t>
            </a:r>
            <a:r>
              <a:rPr dirty="0" sz="1700" spc="-7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700" spc="-10">
                <a:solidFill>
                  <a:srgbClr val="242424"/>
                </a:solidFill>
                <a:latin typeface="Arial MT"/>
                <a:cs typeface="Arial MT"/>
              </a:rPr>
              <a:t>Transaction</a:t>
            </a:r>
            <a:endParaRPr sz="1700">
              <a:latin typeface="Arial MT"/>
              <a:cs typeface="Arial MT"/>
            </a:endParaRPr>
          </a:p>
          <a:p>
            <a:pPr marL="129539">
              <a:lnSpc>
                <a:spcPct val="100000"/>
              </a:lnSpc>
              <a:spcBef>
                <a:spcPts val="60"/>
              </a:spcBef>
            </a:pPr>
            <a:r>
              <a:rPr dirty="0" sz="1650" spc="-10">
                <a:solidFill>
                  <a:srgbClr val="242424"/>
                </a:solidFill>
                <a:latin typeface="Arial MT"/>
                <a:cs typeface="Arial MT"/>
              </a:rPr>
              <a:t>Validationjava</a:t>
            </a:r>
            <a:endParaRPr sz="1650">
              <a:latin typeface="Arial MT"/>
              <a:cs typeface="Arial MT"/>
            </a:endParaRPr>
          </a:p>
          <a:p>
            <a:pPr marL="130175">
              <a:lnSpc>
                <a:spcPct val="100000"/>
              </a:lnSpc>
              <a:spcBef>
                <a:spcPts val="150"/>
              </a:spcBef>
            </a:pPr>
            <a:r>
              <a:rPr dirty="0" sz="1550" spc="-10">
                <a:solidFill>
                  <a:srgbClr val="242424"/>
                </a:solidFill>
                <a:latin typeface="Arial MT"/>
                <a:cs typeface="Arial MT"/>
              </a:rPr>
              <a:t>public </a:t>
            </a:r>
            <a:r>
              <a:rPr dirty="0" sz="1550" spc="-30">
                <a:solidFill>
                  <a:srgbClr val="242424"/>
                </a:solidFill>
                <a:latin typeface="Arial MT"/>
                <a:cs typeface="Arial MT"/>
              </a:rPr>
              <a:t>boolean</a:t>
            </a:r>
            <a:r>
              <a:rPr dirty="0" sz="1550" spc="2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25">
                <a:solidFill>
                  <a:srgbClr val="242424"/>
                </a:solidFill>
                <a:latin typeface="Arial MT"/>
                <a:cs typeface="Arial MT"/>
              </a:rPr>
              <a:t>withdraw(double</a:t>
            </a:r>
            <a:r>
              <a:rPr dirty="0" sz="1550" spc="-10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25">
                <a:solidFill>
                  <a:srgbClr val="242424"/>
                </a:solidFill>
                <a:latin typeface="Arial MT"/>
                <a:cs typeface="Arial MT"/>
              </a:rPr>
              <a:t>amount)</a:t>
            </a:r>
            <a:r>
              <a:rPr dirty="0" sz="1550" spc="1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242424"/>
                </a:solidFill>
                <a:latin typeface="Arial MT"/>
                <a:cs typeface="Arial MT"/>
              </a:rPr>
              <a:t>throws</a:t>
            </a:r>
            <a:r>
              <a:rPr dirty="0" sz="1550" spc="-1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45">
                <a:solidFill>
                  <a:srgbClr val="242424"/>
                </a:solidFill>
                <a:latin typeface="Arial MT"/>
                <a:cs typeface="Arial MT"/>
              </a:rPr>
              <a:t>BankingException</a:t>
            </a:r>
            <a:r>
              <a:rPr dirty="0" sz="1550" spc="-13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50">
                <a:solidFill>
                  <a:srgbClr val="242424"/>
                </a:solidFill>
                <a:latin typeface="Arial MT"/>
                <a:cs typeface="Arial MT"/>
              </a:rPr>
              <a:t>{</a:t>
            </a:r>
            <a:endParaRPr sz="1550">
              <a:latin typeface="Arial MT"/>
              <a:cs typeface="Arial MT"/>
            </a:endParaRPr>
          </a:p>
          <a:p>
            <a:pPr marL="320675">
              <a:lnSpc>
                <a:spcPct val="100000"/>
              </a:lnSpc>
              <a:spcBef>
                <a:spcPts val="90"/>
              </a:spcBef>
            </a:pPr>
            <a:r>
              <a:rPr dirty="0" sz="1600">
                <a:solidFill>
                  <a:srgbClr val="242424"/>
                </a:solidFill>
                <a:latin typeface="Arial MT"/>
                <a:cs typeface="Arial MT"/>
              </a:rPr>
              <a:t>//</a:t>
            </a:r>
            <a:r>
              <a:rPr dirty="0" sz="1600" spc="5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105">
                <a:solidFill>
                  <a:srgbClr val="242424"/>
                </a:solidFill>
                <a:latin typeface="Arial MT"/>
                <a:cs typeface="Arial MT"/>
              </a:rPr>
              <a:t>Layer</a:t>
            </a:r>
            <a:r>
              <a:rPr dirty="0" sz="1600" spc="-6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45">
                <a:solidFill>
                  <a:srgbClr val="242424"/>
                </a:solidFill>
                <a:latin typeface="Arial MT"/>
                <a:cs typeface="Arial MT"/>
              </a:rPr>
              <a:t>1:</a:t>
            </a:r>
            <a:r>
              <a:rPr dirty="0" sz="1600" spc="-10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30">
                <a:solidFill>
                  <a:srgbClr val="242424"/>
                </a:solidFill>
                <a:latin typeface="Arial MT"/>
                <a:cs typeface="Arial MT"/>
              </a:rPr>
              <a:t>Input</a:t>
            </a:r>
            <a:r>
              <a:rPr dirty="0" sz="1600" spc="6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242424"/>
                </a:solidFill>
                <a:latin typeface="Arial MT"/>
                <a:cs typeface="Arial MT"/>
              </a:rPr>
              <a:t>validation</a:t>
            </a:r>
            <a:endParaRPr sz="1600">
              <a:latin typeface="Arial MT"/>
              <a:cs typeface="Arial MT"/>
            </a:endParaRPr>
          </a:p>
          <a:p>
            <a:pPr marL="319405">
              <a:lnSpc>
                <a:spcPct val="100000"/>
              </a:lnSpc>
              <a:spcBef>
                <a:spcPts val="125"/>
              </a:spcBef>
            </a:pPr>
            <a:r>
              <a:rPr dirty="0" sz="1600">
                <a:solidFill>
                  <a:srgbClr val="242424"/>
                </a:solidFill>
                <a:latin typeface="Arial MT"/>
                <a:cs typeface="Arial MT"/>
              </a:rPr>
              <a:t>if</a:t>
            </a:r>
            <a:r>
              <a:rPr dirty="0" sz="1600" spc="-7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50">
                <a:solidFill>
                  <a:srgbClr val="242424"/>
                </a:solidFill>
                <a:latin typeface="Arial MT"/>
                <a:cs typeface="Arial MT"/>
              </a:rPr>
              <a:t>(amount</a:t>
            </a:r>
            <a:r>
              <a:rPr dirty="0" sz="1600" spc="2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155">
                <a:solidFill>
                  <a:srgbClr val="242424"/>
                </a:solidFill>
                <a:latin typeface="Arial MT"/>
                <a:cs typeface="Arial MT"/>
              </a:rPr>
              <a:t>&lt;=</a:t>
            </a:r>
            <a:r>
              <a:rPr dirty="0" sz="1600" spc="-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80">
                <a:solidFill>
                  <a:srgbClr val="242424"/>
                </a:solidFill>
                <a:latin typeface="Arial MT"/>
                <a:cs typeface="Arial MT"/>
              </a:rPr>
              <a:t>0)</a:t>
            </a:r>
            <a:r>
              <a:rPr dirty="0" sz="1600" spc="-7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50">
                <a:solidFill>
                  <a:srgbClr val="242424"/>
                </a:solidFill>
                <a:latin typeface="Arial MT"/>
                <a:cs typeface="Arial MT"/>
              </a:rPr>
              <a:t>(</a:t>
            </a:r>
            <a:endParaRPr sz="1600">
              <a:latin typeface="Arial MT"/>
              <a:cs typeface="Arial MT"/>
            </a:endParaRPr>
          </a:p>
          <a:p>
            <a:pPr marL="503555">
              <a:lnSpc>
                <a:spcPct val="100000"/>
              </a:lnSpc>
              <a:spcBef>
                <a:spcPts val="215"/>
              </a:spcBef>
            </a:pPr>
            <a:r>
              <a:rPr dirty="0" sz="1500">
                <a:solidFill>
                  <a:srgbClr val="242424"/>
                </a:solidFill>
                <a:latin typeface="Arial MT"/>
                <a:cs typeface="Arial MT"/>
              </a:rPr>
              <a:t>throw</a:t>
            </a:r>
            <a:r>
              <a:rPr dirty="0" sz="1500" spc="-3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242424"/>
                </a:solidFill>
                <a:latin typeface="Arial MT"/>
                <a:cs typeface="Arial MT"/>
              </a:rPr>
              <a:t>new</a:t>
            </a:r>
            <a:r>
              <a:rPr dirty="0" sz="1500" spc="-5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baseline="5555" sz="2250">
                <a:solidFill>
                  <a:srgbClr val="242424"/>
                </a:solidFill>
                <a:latin typeface="Arial MT"/>
                <a:cs typeface="Arial MT"/>
              </a:rPr>
              <a:t>B</a:t>
            </a:r>
            <a:r>
              <a:rPr dirty="0" baseline="1851" sz="2250">
                <a:solidFill>
                  <a:srgbClr val="242424"/>
                </a:solidFill>
                <a:latin typeface="Arial MT"/>
                <a:cs typeface="Arial MT"/>
              </a:rPr>
              <a:t>a</a:t>
            </a:r>
            <a:r>
              <a:rPr dirty="0" baseline="5555" sz="2250">
                <a:solidFill>
                  <a:srgbClr val="242424"/>
                </a:solidFill>
                <a:latin typeface="Arial MT"/>
                <a:cs typeface="Arial MT"/>
              </a:rPr>
              <a:t>nkingEx</a:t>
            </a:r>
            <a:r>
              <a:rPr dirty="0" baseline="1851" sz="2250">
                <a:solidFill>
                  <a:srgbClr val="242424"/>
                </a:solidFill>
                <a:latin typeface="Arial MT"/>
                <a:cs typeface="Arial MT"/>
              </a:rPr>
              <a:t>ceptio</a:t>
            </a:r>
            <a:r>
              <a:rPr dirty="0" baseline="5555" sz="2250">
                <a:solidFill>
                  <a:srgbClr val="242424"/>
                </a:solidFill>
                <a:latin typeface="Arial MT"/>
                <a:cs typeface="Arial MT"/>
              </a:rPr>
              <a:t>n</a:t>
            </a:r>
            <a:r>
              <a:rPr dirty="0" baseline="31481" sz="2250">
                <a:solidFill>
                  <a:srgbClr val="242424"/>
                </a:solidFill>
                <a:latin typeface="Arial MT"/>
                <a:cs typeface="Arial MT"/>
              </a:rPr>
              <a:t>(</a:t>
            </a:r>
            <a:r>
              <a:rPr dirty="0" baseline="31481" sz="2250" spc="382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242424"/>
                </a:solidFill>
                <a:latin typeface="Arial MT"/>
                <a:cs typeface="Arial MT"/>
              </a:rPr>
              <a:t>nvalid</a:t>
            </a:r>
            <a:r>
              <a:rPr dirty="0" sz="1500" spc="-10">
                <a:solidFill>
                  <a:srgbClr val="242424"/>
                </a:solidFill>
                <a:latin typeface="Arial MT"/>
                <a:cs typeface="Arial MT"/>
              </a:rPr>
              <a:t> amount</a:t>
            </a:r>
            <a:r>
              <a:rPr dirty="0" sz="1500" spc="-7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baseline="29629" sz="2250" spc="-615">
                <a:solidFill>
                  <a:srgbClr val="242424"/>
                </a:solidFill>
                <a:latin typeface="Arial MT"/>
                <a:cs typeface="Arial MT"/>
              </a:rPr>
              <a:t>)</a:t>
            </a:r>
            <a:endParaRPr baseline="29629" sz="22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95"/>
              </a:spcBef>
            </a:pPr>
            <a:endParaRPr sz="1500">
              <a:latin typeface="Arial MT"/>
              <a:cs typeface="Arial MT"/>
            </a:endParaRPr>
          </a:p>
          <a:p>
            <a:pPr marL="320675">
              <a:lnSpc>
                <a:spcPct val="100000"/>
              </a:lnSpc>
              <a:tabLst>
                <a:tab pos="509905" algn="l"/>
              </a:tabLst>
            </a:pPr>
            <a:r>
              <a:rPr dirty="0" sz="1500" spc="-325">
                <a:solidFill>
                  <a:srgbClr val="242424"/>
                </a:solidFill>
                <a:latin typeface="Arial MT"/>
                <a:cs typeface="Arial MT"/>
              </a:rPr>
              <a:t>//</a:t>
            </a:r>
            <a:r>
              <a:rPr dirty="0" sz="1500">
                <a:solidFill>
                  <a:srgbClr val="242424"/>
                </a:solidFill>
                <a:latin typeface="Arial MT"/>
                <a:cs typeface="Arial MT"/>
              </a:rPr>
              <a:t>	</a:t>
            </a:r>
            <a:r>
              <a:rPr dirty="0" sz="1500" spc="-20">
                <a:solidFill>
                  <a:srgbClr val="242424"/>
                </a:solidFill>
                <a:latin typeface="Arial MT"/>
                <a:cs typeface="Arial MT"/>
              </a:rPr>
              <a:t>Layer</a:t>
            </a:r>
            <a:r>
              <a:rPr dirty="0" sz="1500" spc="-6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 spc="-45">
                <a:solidFill>
                  <a:srgbClr val="242424"/>
                </a:solidFill>
                <a:latin typeface="Arial MT"/>
                <a:cs typeface="Arial MT"/>
              </a:rPr>
              <a:t>2:</a:t>
            </a:r>
            <a:r>
              <a:rPr dirty="0" sz="1500" spc="-6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242424"/>
                </a:solidFill>
                <a:latin typeface="Arial MT"/>
                <a:cs typeface="Arial MT"/>
              </a:rPr>
              <a:t>Transaction</a:t>
            </a:r>
            <a:r>
              <a:rPr dirty="0" sz="1500" spc="5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242424"/>
                </a:solidFill>
                <a:latin typeface="Arial MT"/>
                <a:cs typeface="Arial MT"/>
              </a:rPr>
              <a:t>limit</a:t>
            </a:r>
            <a:endParaRPr sz="1500">
              <a:latin typeface="Arial MT"/>
              <a:cs typeface="Arial MT"/>
            </a:endParaRPr>
          </a:p>
          <a:p>
            <a:pPr marL="320675">
              <a:lnSpc>
                <a:spcPct val="100000"/>
              </a:lnSpc>
              <a:spcBef>
                <a:spcPts val="229"/>
              </a:spcBef>
            </a:pPr>
            <a:r>
              <a:rPr dirty="0" sz="1500">
                <a:solidFill>
                  <a:srgbClr val="242424"/>
                </a:solidFill>
                <a:latin typeface="Arial MT"/>
                <a:cs typeface="Arial MT"/>
              </a:rPr>
              <a:t>if</a:t>
            </a:r>
            <a:r>
              <a:rPr dirty="0" sz="1500" spc="4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242424"/>
                </a:solidFill>
                <a:latin typeface="Arial MT"/>
                <a:cs typeface="Arial MT"/>
              </a:rPr>
              <a:t>(amount</a:t>
            </a:r>
            <a:r>
              <a:rPr dirty="0" sz="1500" spc="14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242424"/>
                </a:solidFill>
                <a:latin typeface="Arial MT"/>
                <a:cs typeface="Arial MT"/>
              </a:rPr>
              <a:t>»</a:t>
            </a:r>
            <a:r>
              <a:rPr dirty="0" sz="1500" spc="-8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 spc="-70">
                <a:solidFill>
                  <a:srgbClr val="242424"/>
                </a:solidFill>
                <a:latin typeface="Arial MT"/>
                <a:cs typeface="Arial MT"/>
              </a:rPr>
              <a:t>MAX_WITHDRAWAL)</a:t>
            </a:r>
            <a:r>
              <a:rPr dirty="0" sz="1500" spc="-8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 spc="-50">
                <a:solidFill>
                  <a:srgbClr val="242424"/>
                </a:solidFill>
                <a:latin typeface="Arial MT"/>
                <a:cs typeface="Arial MT"/>
              </a:rPr>
              <a:t>(</a:t>
            </a:r>
            <a:endParaRPr sz="1500">
              <a:latin typeface="Arial MT"/>
              <a:cs typeface="Arial MT"/>
            </a:endParaRPr>
          </a:p>
          <a:p>
            <a:pPr marL="503555">
              <a:lnSpc>
                <a:spcPct val="100000"/>
              </a:lnSpc>
              <a:spcBef>
                <a:spcPts val="315"/>
              </a:spcBef>
            </a:pPr>
            <a:r>
              <a:rPr dirty="0" baseline="3968" sz="2100" spc="82">
                <a:solidFill>
                  <a:srgbClr val="242424"/>
                </a:solidFill>
                <a:latin typeface="Arial MT"/>
                <a:cs typeface="Arial MT"/>
              </a:rPr>
              <a:t>throw</a:t>
            </a:r>
            <a:r>
              <a:rPr dirty="0" baseline="3968" sz="2100" spc="179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baseline="3968" sz="2100" spc="44">
                <a:solidFill>
                  <a:srgbClr val="242424"/>
                </a:solidFill>
                <a:latin typeface="Arial MT"/>
                <a:cs typeface="Arial MT"/>
              </a:rPr>
              <a:t>new</a:t>
            </a:r>
            <a:r>
              <a:rPr dirty="0" baseline="3968" sz="2100" spc="104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baseline="1984" sz="2100" spc="44">
                <a:solidFill>
                  <a:srgbClr val="242424"/>
                </a:solidFill>
                <a:latin typeface="Arial MT"/>
                <a:cs typeface="Arial MT"/>
              </a:rPr>
              <a:t>B</a:t>
            </a:r>
            <a:r>
              <a:rPr dirty="0" sz="1400" spc="30">
                <a:solidFill>
                  <a:srgbClr val="242424"/>
                </a:solidFill>
                <a:latin typeface="Arial MT"/>
                <a:cs typeface="Arial MT"/>
              </a:rPr>
              <a:t>a</a:t>
            </a:r>
            <a:r>
              <a:rPr dirty="0" baseline="1984" sz="2100" spc="44">
                <a:solidFill>
                  <a:srgbClr val="242424"/>
                </a:solidFill>
                <a:latin typeface="Arial MT"/>
                <a:cs typeface="Arial MT"/>
              </a:rPr>
              <a:t>nkingEx</a:t>
            </a:r>
            <a:r>
              <a:rPr dirty="0" sz="1400" spc="30">
                <a:solidFill>
                  <a:srgbClr val="242424"/>
                </a:solidFill>
                <a:latin typeface="Arial MT"/>
                <a:cs typeface="Arial MT"/>
              </a:rPr>
              <a:t>ceptio</a:t>
            </a:r>
            <a:r>
              <a:rPr dirty="0" baseline="1984" sz="2100" spc="44">
                <a:solidFill>
                  <a:srgbClr val="242424"/>
                </a:solidFill>
                <a:latin typeface="Arial MT"/>
                <a:cs typeface="Arial MT"/>
              </a:rPr>
              <a:t>n</a:t>
            </a:r>
            <a:r>
              <a:rPr dirty="0" baseline="31746" sz="2100" spc="44">
                <a:solidFill>
                  <a:srgbClr val="242424"/>
                </a:solidFill>
                <a:latin typeface="Arial MT"/>
                <a:cs typeface="Arial MT"/>
              </a:rPr>
              <a:t>( </a:t>
            </a:r>
            <a:r>
              <a:rPr dirty="0" baseline="3968" sz="2100" spc="44">
                <a:solidFill>
                  <a:srgbClr val="242424"/>
                </a:solidFill>
                <a:latin typeface="Arial MT"/>
                <a:cs typeface="Arial MT"/>
              </a:rPr>
              <a:t>Exceeds</a:t>
            </a:r>
            <a:r>
              <a:rPr dirty="0" baseline="3968" sz="2100" spc="277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baseline="3968" sz="2100" spc="44">
                <a:solidFill>
                  <a:srgbClr val="242424"/>
                </a:solidFill>
                <a:latin typeface="Arial MT"/>
                <a:cs typeface="Arial MT"/>
              </a:rPr>
              <a:t>$1000</a:t>
            </a:r>
            <a:r>
              <a:rPr dirty="0" baseline="3968" sz="2100" spc="6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242424"/>
                </a:solidFill>
                <a:latin typeface="Arial MT"/>
                <a:cs typeface="Arial MT"/>
              </a:rPr>
              <a:t>Iimit</a:t>
            </a:r>
            <a:r>
              <a:rPr dirty="0" baseline="31746" sz="2100" spc="-15">
                <a:solidFill>
                  <a:srgbClr val="242424"/>
                </a:solidFill>
                <a:latin typeface="Arial MT"/>
                <a:cs typeface="Arial MT"/>
              </a:rPr>
              <a:t>II)t</a:t>
            </a:r>
            <a:endParaRPr baseline="31746" sz="2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1400">
              <a:latin typeface="Arial MT"/>
              <a:cs typeface="Arial MT"/>
            </a:endParaRPr>
          </a:p>
          <a:p>
            <a:pPr marL="320675">
              <a:lnSpc>
                <a:spcPct val="100000"/>
              </a:lnSpc>
            </a:pPr>
            <a:r>
              <a:rPr dirty="0" sz="1650">
                <a:solidFill>
                  <a:srgbClr val="242424"/>
                </a:solidFill>
                <a:latin typeface="Arial MT"/>
                <a:cs typeface="Arial MT"/>
              </a:rPr>
              <a:t>//</a:t>
            </a:r>
            <a:r>
              <a:rPr dirty="0" sz="1650" spc="4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50" spc="-114">
                <a:solidFill>
                  <a:srgbClr val="242424"/>
                </a:solidFill>
                <a:latin typeface="Arial MT"/>
                <a:cs typeface="Arial MT"/>
              </a:rPr>
              <a:t>Layer</a:t>
            </a:r>
            <a:r>
              <a:rPr dirty="0" sz="1650" spc="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50" spc="-105">
                <a:solidFill>
                  <a:srgbClr val="242424"/>
                </a:solidFill>
                <a:latin typeface="Arial MT"/>
                <a:cs typeface="Arial MT"/>
              </a:rPr>
              <a:t>3:</a:t>
            </a:r>
            <a:r>
              <a:rPr dirty="0" sz="1650" spc="-114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50" spc="-90">
                <a:solidFill>
                  <a:srgbClr val="242424"/>
                </a:solidFill>
                <a:latin typeface="Arial MT"/>
                <a:cs typeface="Arial MT"/>
              </a:rPr>
              <a:t>Daily</a:t>
            </a:r>
            <a:r>
              <a:rPr dirty="0" sz="1650" spc="-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50" spc="-20">
                <a:solidFill>
                  <a:srgbClr val="242424"/>
                </a:solidFill>
                <a:latin typeface="Arial MT"/>
                <a:cs typeface="Arial MT"/>
              </a:rPr>
              <a:t>limit</a:t>
            </a:r>
            <a:r>
              <a:rPr dirty="0" sz="1650" spc="-10">
                <a:solidFill>
                  <a:srgbClr val="242424"/>
                </a:solidFill>
                <a:latin typeface="Arial MT"/>
                <a:cs typeface="Arial MT"/>
              </a:rPr>
              <a:t> tracking</a:t>
            </a:r>
            <a:endParaRPr sz="1650">
              <a:latin typeface="Arial MT"/>
              <a:cs typeface="Arial MT"/>
            </a:endParaRPr>
          </a:p>
          <a:p>
            <a:pPr marL="322580">
              <a:lnSpc>
                <a:spcPct val="100000"/>
              </a:lnSpc>
              <a:spcBef>
                <a:spcPts val="85"/>
              </a:spcBef>
              <a:tabLst>
                <a:tab pos="2515235" algn="l"/>
              </a:tabLst>
            </a:pPr>
            <a:r>
              <a:rPr dirty="0" sz="1600" spc="-65">
                <a:solidFill>
                  <a:srgbClr val="242424"/>
                </a:solidFill>
                <a:latin typeface="Arial MT"/>
                <a:cs typeface="Arial MT"/>
              </a:rPr>
              <a:t>double</a:t>
            </a:r>
            <a:r>
              <a:rPr dirty="0" sz="1600" spc="-2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242424"/>
                </a:solidFill>
                <a:latin typeface="Arial MT"/>
                <a:cs typeface="Arial MT"/>
              </a:rPr>
              <a:t>todayWithdrawn</a:t>
            </a:r>
            <a:r>
              <a:rPr dirty="0" sz="1600">
                <a:solidFill>
                  <a:srgbClr val="242424"/>
                </a:solidFill>
                <a:latin typeface="Arial MT"/>
                <a:cs typeface="Arial MT"/>
              </a:rPr>
              <a:t>	</a:t>
            </a:r>
            <a:r>
              <a:rPr dirty="0" sz="1600" spc="-20">
                <a:solidFill>
                  <a:srgbClr val="242424"/>
                </a:solidFill>
                <a:latin typeface="Arial MT"/>
                <a:cs typeface="Arial MT"/>
              </a:rPr>
              <a:t>daiIyWithdrawaIs.get0rDefauIt(</a:t>
            </a:r>
            <a:endParaRPr sz="1600">
              <a:latin typeface="Arial MT"/>
              <a:cs typeface="Arial MT"/>
            </a:endParaRPr>
          </a:p>
          <a:p>
            <a:pPr marL="508000">
              <a:lnSpc>
                <a:spcPct val="100000"/>
              </a:lnSpc>
              <a:spcBef>
                <a:spcPts val="160"/>
              </a:spcBef>
            </a:pPr>
            <a:r>
              <a:rPr dirty="0" sz="1550" spc="-30">
                <a:solidFill>
                  <a:srgbClr val="242424"/>
                </a:solidFill>
                <a:latin typeface="Arial MT"/>
                <a:cs typeface="Arial MT"/>
              </a:rPr>
              <a:t>currentAccount.getAccountNumber(),</a:t>
            </a:r>
            <a:r>
              <a:rPr dirty="0" sz="1550" spc="21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242424"/>
                </a:solidFill>
                <a:latin typeface="Arial MT"/>
                <a:cs typeface="Arial MT"/>
              </a:rPr>
              <a:t>0.0);</a:t>
            </a:r>
            <a:endParaRPr sz="1550">
              <a:latin typeface="Arial MT"/>
              <a:cs typeface="Arial MT"/>
            </a:endParaRPr>
          </a:p>
          <a:p>
            <a:pPr marL="32004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solidFill>
                  <a:srgbClr val="242424"/>
                </a:solidFill>
                <a:latin typeface="Arial MT"/>
                <a:cs typeface="Arial MT"/>
              </a:rPr>
              <a:t>if</a:t>
            </a:r>
            <a:r>
              <a:rPr dirty="0" sz="1600" spc="-2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60">
                <a:solidFill>
                  <a:srgbClr val="242424"/>
                </a:solidFill>
                <a:latin typeface="Arial MT"/>
                <a:cs typeface="Arial MT"/>
              </a:rPr>
              <a:t>(todayWithdrawn</a:t>
            </a:r>
            <a:r>
              <a:rPr dirty="0" sz="1600" spc="-17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242424"/>
                </a:solidFill>
                <a:latin typeface="Arial MT"/>
                <a:cs typeface="Arial MT"/>
              </a:rPr>
              <a:t>+</a:t>
            </a:r>
            <a:r>
              <a:rPr dirty="0" sz="1600" spc="-6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60">
                <a:solidFill>
                  <a:srgbClr val="242424"/>
                </a:solidFill>
                <a:latin typeface="Arial MT"/>
                <a:cs typeface="Arial MT"/>
              </a:rPr>
              <a:t>amount</a:t>
            </a:r>
            <a:r>
              <a:rPr dirty="0" sz="1600" spc="10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70">
                <a:solidFill>
                  <a:srgbClr val="242424"/>
                </a:solidFill>
                <a:latin typeface="Arial MT"/>
                <a:cs typeface="Arial MT"/>
              </a:rPr>
              <a:t>»</a:t>
            </a:r>
            <a:r>
              <a:rPr dirty="0" sz="1600" spc="-11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135">
                <a:solidFill>
                  <a:srgbClr val="242424"/>
                </a:solidFill>
                <a:latin typeface="Arial MT"/>
                <a:cs typeface="Arial MT"/>
              </a:rPr>
              <a:t>DAILY_LIMIT)</a:t>
            </a:r>
            <a:r>
              <a:rPr dirty="0" sz="1600" spc="7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50">
                <a:solidFill>
                  <a:srgbClr val="242424"/>
                </a:solidFill>
                <a:latin typeface="Arial MT"/>
                <a:cs typeface="Arial MT"/>
              </a:rPr>
              <a:t>(</a:t>
            </a:r>
            <a:endParaRPr sz="1600">
              <a:latin typeface="Arial MT"/>
              <a:cs typeface="Arial MT"/>
            </a:endParaRPr>
          </a:p>
          <a:p>
            <a:pPr marL="503555">
              <a:lnSpc>
                <a:spcPct val="100000"/>
              </a:lnSpc>
              <a:spcBef>
                <a:spcPts val="180"/>
              </a:spcBef>
            </a:pPr>
            <a:r>
              <a:rPr dirty="0" sz="1550">
                <a:solidFill>
                  <a:srgbClr val="242424"/>
                </a:solidFill>
                <a:latin typeface="Arial MT"/>
                <a:cs typeface="Arial MT"/>
              </a:rPr>
              <a:t>throw</a:t>
            </a:r>
            <a:r>
              <a:rPr dirty="0" sz="1550" spc="-2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45">
                <a:solidFill>
                  <a:srgbClr val="242424"/>
                </a:solidFill>
                <a:latin typeface="Arial MT"/>
                <a:cs typeface="Arial MT"/>
              </a:rPr>
              <a:t>new</a:t>
            </a:r>
            <a:r>
              <a:rPr dirty="0" sz="1550" spc="-1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baseline="3584" sz="2325" spc="-52">
                <a:solidFill>
                  <a:srgbClr val="242424"/>
                </a:solidFill>
                <a:latin typeface="Arial MT"/>
                <a:cs typeface="Arial MT"/>
              </a:rPr>
              <a:t>B</a:t>
            </a:r>
            <a:r>
              <a:rPr dirty="0" baseline="1792" sz="2325" spc="-52">
                <a:solidFill>
                  <a:srgbClr val="242424"/>
                </a:solidFill>
                <a:latin typeface="Arial MT"/>
                <a:cs typeface="Arial MT"/>
              </a:rPr>
              <a:t>a</a:t>
            </a:r>
            <a:r>
              <a:rPr dirty="0" baseline="3584" sz="2325" spc="-52">
                <a:solidFill>
                  <a:srgbClr val="242424"/>
                </a:solidFill>
                <a:latin typeface="Arial MT"/>
                <a:cs typeface="Arial MT"/>
              </a:rPr>
              <a:t>nkingEx</a:t>
            </a:r>
            <a:r>
              <a:rPr dirty="0" baseline="1792" sz="2325" spc="-52">
                <a:solidFill>
                  <a:srgbClr val="242424"/>
                </a:solidFill>
                <a:latin typeface="Arial MT"/>
                <a:cs typeface="Arial MT"/>
              </a:rPr>
              <a:t>ceptio</a:t>
            </a:r>
            <a:r>
              <a:rPr dirty="0" baseline="3584" sz="2325" spc="-52">
                <a:solidFill>
                  <a:srgbClr val="242424"/>
                </a:solidFill>
                <a:latin typeface="Arial MT"/>
                <a:cs typeface="Arial MT"/>
              </a:rPr>
              <a:t>n</a:t>
            </a:r>
            <a:r>
              <a:rPr dirty="0" baseline="30465" sz="2325" spc="-52">
                <a:solidFill>
                  <a:srgbClr val="242424"/>
                </a:solidFill>
                <a:latin typeface="Arial MT"/>
                <a:cs typeface="Arial MT"/>
              </a:rPr>
              <a:t>(</a:t>
            </a:r>
            <a:r>
              <a:rPr dirty="0" baseline="30465" sz="2325" spc="-142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45">
                <a:solidFill>
                  <a:srgbClr val="242424"/>
                </a:solidFill>
                <a:latin typeface="Arial MT"/>
                <a:cs typeface="Arial MT"/>
              </a:rPr>
              <a:t>Daily</a:t>
            </a:r>
            <a:r>
              <a:rPr dirty="0" sz="1550" spc="1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242424"/>
                </a:solidFill>
                <a:latin typeface="Arial MT"/>
                <a:cs typeface="Arial MT"/>
              </a:rPr>
              <a:t>limit</a:t>
            </a:r>
            <a:r>
              <a:rPr dirty="0" sz="1550" spc="3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75">
                <a:solidFill>
                  <a:srgbClr val="242424"/>
                </a:solidFill>
                <a:latin typeface="Arial MT"/>
                <a:cs typeface="Arial MT"/>
              </a:rPr>
              <a:t>exceeded</a:t>
            </a:r>
            <a:r>
              <a:rPr dirty="0" sz="1550" spc="-6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baseline="28673" sz="2325" spc="-637">
                <a:solidFill>
                  <a:srgbClr val="242424"/>
                </a:solidFill>
                <a:latin typeface="Arial MT"/>
                <a:cs typeface="Arial MT"/>
              </a:rPr>
              <a:t>)</a:t>
            </a:r>
            <a:endParaRPr baseline="28673" sz="2325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550">
              <a:latin typeface="Arial MT"/>
              <a:cs typeface="Arial MT"/>
            </a:endParaRPr>
          </a:p>
          <a:p>
            <a:pPr marL="320675">
              <a:lnSpc>
                <a:spcPct val="100000"/>
              </a:lnSpc>
              <a:tabLst>
                <a:tab pos="509905" algn="l"/>
              </a:tabLst>
            </a:pPr>
            <a:r>
              <a:rPr dirty="0" sz="1500" spc="-330">
                <a:solidFill>
                  <a:srgbClr val="242424"/>
                </a:solidFill>
                <a:latin typeface="Arial MT"/>
                <a:cs typeface="Arial MT"/>
              </a:rPr>
              <a:t>//</a:t>
            </a:r>
            <a:r>
              <a:rPr dirty="0" sz="1500">
                <a:solidFill>
                  <a:srgbClr val="242424"/>
                </a:solidFill>
                <a:latin typeface="Arial MT"/>
                <a:cs typeface="Arial MT"/>
              </a:rPr>
              <a:t>	</a:t>
            </a:r>
            <a:r>
              <a:rPr dirty="0" sz="1500" spc="-20">
                <a:solidFill>
                  <a:srgbClr val="242424"/>
                </a:solidFill>
                <a:latin typeface="Arial MT"/>
                <a:cs typeface="Arial MT"/>
              </a:rPr>
              <a:t>Layer</a:t>
            </a:r>
            <a:r>
              <a:rPr dirty="0" sz="1500" spc="-8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 spc="-45">
                <a:solidFill>
                  <a:srgbClr val="242424"/>
                </a:solidFill>
                <a:latin typeface="Arial MT"/>
                <a:cs typeface="Arial MT"/>
              </a:rPr>
              <a:t>4:</a:t>
            </a:r>
            <a:r>
              <a:rPr dirty="0" sz="1500" spc="-6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242424"/>
                </a:solidFill>
                <a:latin typeface="Arial MT"/>
                <a:cs typeface="Arial MT"/>
              </a:rPr>
              <a:t>Balance</a:t>
            </a:r>
            <a:r>
              <a:rPr dirty="0" sz="1500" spc="-6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242424"/>
                </a:solidFill>
                <a:latin typeface="Arial MT"/>
                <a:cs typeface="Arial MT"/>
              </a:rPr>
              <a:t>validation</a:t>
            </a:r>
            <a:endParaRPr sz="1500">
              <a:latin typeface="Arial MT"/>
              <a:cs typeface="Arial MT"/>
            </a:endParaRPr>
          </a:p>
          <a:p>
            <a:pPr marL="320675">
              <a:lnSpc>
                <a:spcPct val="100000"/>
              </a:lnSpc>
              <a:spcBef>
                <a:spcPts val="215"/>
              </a:spcBef>
            </a:pPr>
            <a:r>
              <a:rPr dirty="0" sz="1500">
                <a:solidFill>
                  <a:srgbClr val="242424"/>
                </a:solidFill>
                <a:latin typeface="Arial MT"/>
                <a:cs typeface="Arial MT"/>
              </a:rPr>
              <a:t>if</a:t>
            </a:r>
            <a:r>
              <a:rPr dirty="0" sz="1500" spc="10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242424"/>
                </a:solidFill>
                <a:latin typeface="Arial MT"/>
                <a:cs typeface="Arial MT"/>
              </a:rPr>
              <a:t>(currentAccount.getBaIance()</a:t>
            </a:r>
            <a:r>
              <a:rPr dirty="0" sz="1500" spc="-8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242424"/>
                </a:solidFill>
                <a:latin typeface="Arial MT"/>
                <a:cs typeface="Arial MT"/>
              </a:rPr>
              <a:t>‹</a:t>
            </a:r>
            <a:r>
              <a:rPr dirty="0" sz="1500" spc="26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242424"/>
                </a:solidFill>
                <a:latin typeface="Arial MT"/>
                <a:cs typeface="Arial MT"/>
              </a:rPr>
              <a:t>amount)</a:t>
            </a:r>
            <a:r>
              <a:rPr dirty="0" sz="1500" spc="13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 spc="-50">
                <a:solidFill>
                  <a:srgbClr val="242424"/>
                </a:solidFill>
                <a:latin typeface="Arial MT"/>
                <a:cs typeface="Arial MT"/>
              </a:rPr>
              <a:t>{</a:t>
            </a:r>
            <a:endParaRPr sz="1500">
              <a:latin typeface="Arial MT"/>
              <a:cs typeface="Arial MT"/>
            </a:endParaRPr>
          </a:p>
          <a:p>
            <a:pPr marL="503555">
              <a:lnSpc>
                <a:spcPct val="100000"/>
              </a:lnSpc>
              <a:spcBef>
                <a:spcPts val="330"/>
              </a:spcBef>
            </a:pPr>
            <a:r>
              <a:rPr dirty="0" sz="1400" spc="55">
                <a:solidFill>
                  <a:srgbClr val="242424"/>
                </a:solidFill>
                <a:latin typeface="Arial MT"/>
                <a:cs typeface="Arial MT"/>
              </a:rPr>
              <a:t>throw</a:t>
            </a:r>
            <a:r>
              <a:rPr dirty="0" sz="1400" spc="28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42424"/>
                </a:solidFill>
                <a:latin typeface="Arial MT"/>
                <a:cs typeface="Arial MT"/>
              </a:rPr>
              <a:t>new</a:t>
            </a:r>
            <a:r>
              <a:rPr dirty="0" sz="1400" spc="22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baseline="5952" sz="2100">
                <a:solidFill>
                  <a:srgbClr val="242424"/>
                </a:solidFill>
                <a:latin typeface="Arial MT"/>
                <a:cs typeface="Arial MT"/>
              </a:rPr>
              <a:t>B</a:t>
            </a:r>
            <a:r>
              <a:rPr dirty="0" baseline="1984" sz="2100">
                <a:solidFill>
                  <a:srgbClr val="242424"/>
                </a:solidFill>
                <a:latin typeface="Arial MT"/>
                <a:cs typeface="Arial MT"/>
              </a:rPr>
              <a:t>a</a:t>
            </a:r>
            <a:r>
              <a:rPr dirty="0" baseline="5952" sz="2100">
                <a:solidFill>
                  <a:srgbClr val="242424"/>
                </a:solidFill>
                <a:latin typeface="Arial MT"/>
                <a:cs typeface="Arial MT"/>
              </a:rPr>
              <a:t>nkingEx</a:t>
            </a:r>
            <a:r>
              <a:rPr dirty="0" baseline="1984" sz="2100">
                <a:solidFill>
                  <a:srgbClr val="242424"/>
                </a:solidFill>
                <a:latin typeface="Arial MT"/>
                <a:cs typeface="Arial MT"/>
              </a:rPr>
              <a:t>ceptio</a:t>
            </a:r>
            <a:r>
              <a:rPr dirty="0" baseline="5952" sz="2100">
                <a:solidFill>
                  <a:srgbClr val="242424"/>
                </a:solidFill>
                <a:latin typeface="Arial MT"/>
                <a:cs typeface="Arial MT"/>
              </a:rPr>
              <a:t>n</a:t>
            </a:r>
            <a:r>
              <a:rPr dirty="0" baseline="33730" sz="2100">
                <a:solidFill>
                  <a:srgbClr val="242424"/>
                </a:solidFill>
                <a:latin typeface="Arial MT"/>
                <a:cs typeface="Arial MT"/>
              </a:rPr>
              <a:t>(</a:t>
            </a:r>
            <a:r>
              <a:rPr dirty="0" baseline="33730" sz="2100" spc="307">
                <a:solidFill>
                  <a:srgbClr val="242424"/>
                </a:solidFill>
                <a:latin typeface="Arial MT"/>
                <a:cs typeface="Arial MT"/>
              </a:rPr>
              <a:t>  </a:t>
            </a:r>
            <a:r>
              <a:rPr dirty="0" sz="1400" spc="50">
                <a:solidFill>
                  <a:srgbClr val="242424"/>
                </a:solidFill>
                <a:latin typeface="Arial MT"/>
                <a:cs typeface="Arial MT"/>
              </a:rPr>
              <a:t>nsufficient</a:t>
            </a:r>
            <a:r>
              <a:rPr dirty="0" sz="1400" spc="42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42424"/>
                </a:solidFill>
                <a:latin typeface="Arial MT"/>
                <a:cs typeface="Arial MT"/>
              </a:rPr>
              <a:t>funds</a:t>
            </a:r>
            <a:r>
              <a:rPr dirty="0" sz="1400" spc="12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baseline="31746" sz="2100" spc="-562">
                <a:solidFill>
                  <a:srgbClr val="242424"/>
                </a:solidFill>
                <a:latin typeface="Arial MT"/>
                <a:cs typeface="Arial MT"/>
              </a:rPr>
              <a:t>)</a:t>
            </a:r>
            <a:endParaRPr baseline="31746" sz="2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endParaRPr sz="1400">
              <a:latin typeface="Arial MT"/>
              <a:cs typeface="Arial MT"/>
            </a:endParaRPr>
          </a:p>
          <a:p>
            <a:pPr marL="319405" marR="3943985" indent="1270">
              <a:lnSpc>
                <a:spcPct val="100000"/>
              </a:lnSpc>
              <a:spcBef>
                <a:spcPts val="5"/>
              </a:spcBef>
            </a:pPr>
            <a:r>
              <a:rPr dirty="0" sz="1700" spc="-114">
                <a:solidFill>
                  <a:srgbClr val="242424"/>
                </a:solidFill>
                <a:latin typeface="Calibri"/>
                <a:cs typeface="Calibri"/>
              </a:rPr>
              <a:t>//</a:t>
            </a:r>
            <a:r>
              <a:rPr dirty="0" sz="1700" spc="-4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42424"/>
                </a:solidFill>
                <a:latin typeface="Calibri"/>
                <a:cs typeface="Calibri"/>
              </a:rPr>
              <a:t>Layer</a:t>
            </a:r>
            <a:r>
              <a:rPr dirty="0" sz="1700" spc="1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00" spc="-55">
                <a:solidFill>
                  <a:srgbClr val="242424"/>
                </a:solidFill>
                <a:latin typeface="Calibri"/>
                <a:cs typeface="Calibri"/>
              </a:rPr>
              <a:t>5:</a:t>
            </a:r>
            <a:r>
              <a:rPr dirty="0" sz="1700" spc="-2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00" spc="-55">
                <a:solidFill>
                  <a:srgbClr val="242424"/>
                </a:solidFill>
                <a:latin typeface="Calibri"/>
                <a:cs typeface="Calibri"/>
              </a:rPr>
              <a:t>ATM</a:t>
            </a:r>
            <a:r>
              <a:rPr dirty="0" sz="1700" spc="-1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42424"/>
                </a:solidFill>
                <a:latin typeface="Calibri"/>
                <a:cs typeface="Calibri"/>
              </a:rPr>
              <a:t>cash</a:t>
            </a:r>
            <a:r>
              <a:rPr dirty="0" sz="1700" spc="-6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00" spc="-40">
                <a:solidFill>
                  <a:srgbClr val="242424"/>
                </a:solidFill>
                <a:latin typeface="Calibri"/>
                <a:cs typeface="Calibri"/>
              </a:rPr>
              <a:t>availability </a:t>
            </a:r>
            <a:r>
              <a:rPr dirty="0" sz="1700">
                <a:solidFill>
                  <a:srgbClr val="242424"/>
                </a:solidFill>
                <a:latin typeface="Calibri"/>
                <a:cs typeface="Calibri"/>
              </a:rPr>
              <a:t>if</a:t>
            </a:r>
            <a:r>
              <a:rPr dirty="0" sz="1700" spc="-55">
                <a:solidFill>
                  <a:srgbClr val="242424"/>
                </a:solidFill>
                <a:latin typeface="Calibri"/>
                <a:cs typeface="Calibri"/>
              </a:rPr>
              <a:t> (amount</a:t>
            </a:r>
            <a:r>
              <a:rPr dirty="0" sz="1700" spc="7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42424"/>
                </a:solidFill>
                <a:latin typeface="Calibri"/>
                <a:cs typeface="Calibri"/>
              </a:rPr>
              <a:t>»</a:t>
            </a:r>
            <a:r>
              <a:rPr dirty="0" sz="1700" spc="-6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00" spc="-20">
                <a:solidFill>
                  <a:srgbClr val="242424"/>
                </a:solidFill>
                <a:latin typeface="Calibri"/>
                <a:cs typeface="Calibri"/>
              </a:rPr>
              <a:t>cashAvailable)</a:t>
            </a:r>
            <a:r>
              <a:rPr dirty="0" sz="1700" spc="-11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42424"/>
                </a:solidFill>
                <a:latin typeface="Calibri"/>
                <a:cs typeface="Calibri"/>
              </a:rPr>
              <a:t>{</a:t>
            </a:r>
            <a:endParaRPr sz="1700">
              <a:latin typeface="Calibri"/>
              <a:cs typeface="Calibri"/>
            </a:endParaRPr>
          </a:p>
          <a:p>
            <a:pPr marL="503555">
              <a:lnSpc>
                <a:spcPct val="100000"/>
              </a:lnSpc>
            </a:pPr>
            <a:r>
              <a:rPr dirty="0" sz="1700" spc="-90">
                <a:solidFill>
                  <a:srgbClr val="242424"/>
                </a:solidFill>
                <a:latin typeface="Calibri"/>
                <a:cs typeface="Calibri"/>
              </a:rPr>
              <a:t>throw</a:t>
            </a:r>
            <a:r>
              <a:rPr dirty="0" sz="170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00" spc="-65">
                <a:solidFill>
                  <a:srgbClr val="242424"/>
                </a:solidFill>
                <a:latin typeface="Calibri"/>
                <a:cs typeface="Calibri"/>
              </a:rPr>
              <a:t>new</a:t>
            </a:r>
            <a:r>
              <a:rPr dirty="0" sz="1700" spc="-3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baseline="3267" sz="2550" spc="-37">
                <a:solidFill>
                  <a:srgbClr val="242424"/>
                </a:solidFill>
                <a:latin typeface="Calibri"/>
                <a:cs typeface="Calibri"/>
              </a:rPr>
              <a:t>B</a:t>
            </a:r>
            <a:r>
              <a:rPr dirty="0" baseline="1633" sz="2550" spc="-37">
                <a:solidFill>
                  <a:srgbClr val="242424"/>
                </a:solidFill>
                <a:latin typeface="Calibri"/>
                <a:cs typeface="Calibri"/>
              </a:rPr>
              <a:t>a</a:t>
            </a:r>
            <a:r>
              <a:rPr dirty="0" baseline="3267" sz="2550" spc="-37">
                <a:solidFill>
                  <a:srgbClr val="242424"/>
                </a:solidFill>
                <a:latin typeface="Calibri"/>
                <a:cs typeface="Calibri"/>
              </a:rPr>
              <a:t>nkingEx</a:t>
            </a:r>
            <a:r>
              <a:rPr dirty="0" baseline="1633" sz="2550" spc="-37">
                <a:solidFill>
                  <a:srgbClr val="242424"/>
                </a:solidFill>
                <a:latin typeface="Calibri"/>
                <a:cs typeface="Calibri"/>
              </a:rPr>
              <a:t>ceptio</a:t>
            </a:r>
            <a:r>
              <a:rPr dirty="0" baseline="3267" sz="2550" spc="-37">
                <a:solidFill>
                  <a:srgbClr val="242424"/>
                </a:solidFill>
                <a:latin typeface="Calibri"/>
                <a:cs typeface="Calibri"/>
              </a:rPr>
              <a:t>n</a:t>
            </a:r>
            <a:r>
              <a:rPr dirty="0" baseline="27777" sz="2550" spc="-37">
                <a:solidFill>
                  <a:srgbClr val="242424"/>
                </a:solidFill>
                <a:latin typeface="Calibri"/>
                <a:cs typeface="Calibri"/>
              </a:rPr>
              <a:t>(</a:t>
            </a:r>
            <a:r>
              <a:rPr dirty="0" baseline="27777" sz="2550" spc="-142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baseline="3267" sz="2550" spc="-82">
                <a:solidFill>
                  <a:srgbClr val="242424"/>
                </a:solidFill>
                <a:latin typeface="Calibri"/>
                <a:cs typeface="Calibri"/>
              </a:rPr>
              <a:t>ATM</a:t>
            </a:r>
            <a:r>
              <a:rPr dirty="0" baseline="3267" sz="2550" spc="22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00" spc="-80">
                <a:solidFill>
                  <a:srgbClr val="242424"/>
                </a:solidFill>
                <a:latin typeface="Calibri"/>
                <a:cs typeface="Calibri"/>
              </a:rPr>
              <a:t>out</a:t>
            </a:r>
            <a:r>
              <a:rPr dirty="0" sz="1700" spc="3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42424"/>
                </a:solidFill>
                <a:latin typeface="Calibri"/>
                <a:cs typeface="Calibri"/>
              </a:rPr>
              <a:t>of</a:t>
            </a:r>
            <a:r>
              <a:rPr dirty="0" sz="1700" spc="-3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242424"/>
                </a:solidFill>
                <a:latin typeface="Calibri"/>
                <a:cs typeface="Calibri"/>
              </a:rPr>
              <a:t>cash</a:t>
            </a:r>
            <a:r>
              <a:rPr dirty="0" baseline="26143" sz="2550" spc="-15">
                <a:solidFill>
                  <a:srgbClr val="242424"/>
                </a:solidFill>
                <a:latin typeface="Calibri"/>
                <a:cs typeface="Calibri"/>
              </a:rPr>
              <a:t>)</a:t>
            </a:r>
            <a:endParaRPr baseline="26143" sz="2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17058" y="426869"/>
            <a:ext cx="6557645" cy="1005078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210185" marR="1083310" indent="1270">
              <a:lnSpc>
                <a:spcPts val="2000"/>
              </a:lnSpc>
              <a:spcBef>
                <a:spcPts val="234"/>
              </a:spcBef>
            </a:pPr>
            <a:r>
              <a:rPr dirty="0" sz="1700">
                <a:solidFill>
                  <a:srgbClr val="242424"/>
                </a:solidFill>
                <a:latin typeface="Calibri"/>
                <a:cs typeface="Calibri"/>
              </a:rPr>
              <a:t>//Process</a:t>
            </a:r>
            <a:r>
              <a:rPr dirty="0" sz="1700" spc="19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242424"/>
                </a:solidFill>
                <a:latin typeface="Calibri"/>
                <a:cs typeface="Calibri"/>
              </a:rPr>
              <a:t>transaction </a:t>
            </a:r>
            <a:r>
              <a:rPr dirty="0" sz="1700" spc="-45">
                <a:solidFill>
                  <a:srgbClr val="242424"/>
                </a:solidFill>
                <a:latin typeface="Calibri"/>
                <a:cs typeface="Calibri"/>
              </a:rPr>
              <a:t>dailyWithdrawals.merge(currentAccount.getAccountNumber(),</a:t>
            </a:r>
            <a:endParaRPr sz="1700">
              <a:latin typeface="Calibri"/>
              <a:cs typeface="Calibri"/>
            </a:endParaRPr>
          </a:p>
          <a:p>
            <a:pPr marL="210820" marR="644525" indent="1036955">
              <a:lnSpc>
                <a:spcPts val="2030"/>
              </a:lnSpc>
              <a:spcBef>
                <a:spcPts val="20"/>
              </a:spcBef>
            </a:pPr>
            <a:r>
              <a:rPr dirty="0" sz="1700" spc="-80">
                <a:solidFill>
                  <a:srgbClr val="242424"/>
                </a:solidFill>
                <a:latin typeface="Calibri"/>
                <a:cs typeface="Calibri"/>
              </a:rPr>
              <a:t>amount,</a:t>
            </a:r>
            <a:r>
              <a:rPr dirty="0" sz="1700" spc="1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242424"/>
                </a:solidFill>
                <a:latin typeface="Calibri"/>
                <a:cs typeface="Calibri"/>
              </a:rPr>
              <a:t>Double::sum); </a:t>
            </a:r>
            <a:r>
              <a:rPr dirty="0" sz="1700" spc="-40">
                <a:solidFill>
                  <a:srgbClr val="242424"/>
                </a:solidFill>
                <a:latin typeface="Calibri"/>
                <a:cs typeface="Calibri"/>
              </a:rPr>
              <a:t>currentAccount.setBaIance(currentAccount.getBalance()</a:t>
            </a:r>
            <a:r>
              <a:rPr dirty="0" sz="1700" spc="-2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00" spc="-75">
                <a:solidFill>
                  <a:srgbClr val="242424"/>
                </a:solidFill>
                <a:latin typeface="Calibri"/>
                <a:cs typeface="Calibri"/>
              </a:rPr>
              <a:t>-</a:t>
            </a:r>
            <a:r>
              <a:rPr dirty="0" sz="1700" spc="12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242424"/>
                </a:solidFill>
                <a:latin typeface="Calibri"/>
                <a:cs typeface="Calibri"/>
              </a:rPr>
              <a:t>amount); </a:t>
            </a:r>
            <a:r>
              <a:rPr dirty="0" sz="1700" spc="-25">
                <a:solidFill>
                  <a:srgbClr val="242424"/>
                </a:solidFill>
                <a:latin typeface="Calibri"/>
                <a:cs typeface="Calibri"/>
              </a:rPr>
              <a:t>cashAvailable</a:t>
            </a:r>
            <a:r>
              <a:rPr dirty="0" sz="1700" spc="5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00" spc="-70">
                <a:solidFill>
                  <a:srgbClr val="242424"/>
                </a:solidFill>
                <a:latin typeface="Calibri"/>
                <a:cs typeface="Calibri"/>
              </a:rPr>
              <a:t>-</a:t>
            </a:r>
            <a:r>
              <a:rPr dirty="0" sz="1700">
                <a:solidFill>
                  <a:srgbClr val="242424"/>
                </a:solidFill>
                <a:latin typeface="Calibri"/>
                <a:cs typeface="Calibri"/>
              </a:rPr>
              <a:t>=</a:t>
            </a:r>
            <a:r>
              <a:rPr dirty="0" sz="1700" spc="-5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242424"/>
                </a:solidFill>
                <a:latin typeface="Calibri"/>
                <a:cs typeface="Calibri"/>
              </a:rPr>
              <a:t>amount;</a:t>
            </a:r>
            <a:endParaRPr sz="1700">
              <a:latin typeface="Calibri"/>
              <a:cs typeface="Calibri"/>
            </a:endParaRPr>
          </a:p>
          <a:p>
            <a:pPr marL="208279">
              <a:lnSpc>
                <a:spcPts val="1920"/>
              </a:lnSpc>
            </a:pPr>
            <a:r>
              <a:rPr dirty="0" sz="1700" spc="-85">
                <a:solidFill>
                  <a:srgbClr val="242424"/>
                </a:solidFill>
                <a:latin typeface="Calibri"/>
                <a:cs typeface="Calibri"/>
              </a:rPr>
              <a:t>return</a:t>
            </a:r>
            <a:r>
              <a:rPr dirty="0" sz="1700" spc="2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242424"/>
                </a:solidFill>
                <a:latin typeface="Calibri"/>
                <a:cs typeface="Calibri"/>
              </a:rPr>
              <a:t>true;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00">
              <a:latin typeface="Calibri"/>
              <a:cs typeface="Calibri"/>
            </a:endParaRPr>
          </a:p>
          <a:p>
            <a:pPr marL="22860">
              <a:lnSpc>
                <a:spcPct val="100000"/>
              </a:lnSpc>
            </a:pPr>
            <a:r>
              <a:rPr dirty="0" sz="1600" spc="-120">
                <a:solidFill>
                  <a:srgbClr val="242424"/>
                </a:solidFill>
                <a:latin typeface="Arial MT"/>
                <a:cs typeface="Arial MT"/>
              </a:rPr>
              <a:t>Why</a:t>
            </a:r>
            <a:r>
              <a:rPr dirty="0" sz="1600" spc="-10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40">
                <a:solidFill>
                  <a:srgbClr val="242424"/>
                </a:solidFill>
                <a:latin typeface="Arial MT"/>
                <a:cs typeface="Arial MT"/>
              </a:rPr>
              <a:t>This</a:t>
            </a:r>
            <a:r>
              <a:rPr dirty="0" sz="1600" spc="-10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70">
                <a:solidFill>
                  <a:srgbClr val="242424"/>
                </a:solidFill>
                <a:latin typeface="Arial MT"/>
                <a:cs typeface="Arial MT"/>
              </a:rPr>
              <a:t>Design</a:t>
            </a:r>
            <a:r>
              <a:rPr dirty="0" sz="1600" spc="-3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125">
                <a:solidFill>
                  <a:srgbClr val="242424"/>
                </a:solidFill>
                <a:latin typeface="Arial MT"/>
                <a:cs typeface="Arial MT"/>
              </a:rPr>
              <a:t>Was</a:t>
            </a:r>
            <a:r>
              <a:rPr dirty="0" sz="1600" spc="-8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70">
                <a:solidFill>
                  <a:srgbClr val="242424"/>
                </a:solidFill>
                <a:latin typeface="Arial MT"/>
                <a:cs typeface="Arial MT"/>
              </a:rPr>
              <a:t>ChosenSecurity</a:t>
            </a:r>
            <a:r>
              <a:rPr dirty="0" sz="1600" spc="-15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40">
                <a:solidFill>
                  <a:srgbClr val="242424"/>
                </a:solidFill>
                <a:latin typeface="Arial MT"/>
                <a:cs typeface="Arial MT"/>
              </a:rPr>
              <a:t>First:</a:t>
            </a:r>
            <a:r>
              <a:rPr dirty="0" sz="1600" spc="-13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20">
                <a:solidFill>
                  <a:srgbClr val="242424"/>
                </a:solidFill>
                <a:latin typeface="Arial MT"/>
                <a:cs typeface="Arial MT"/>
              </a:rPr>
              <a:t>Multiple</a:t>
            </a:r>
            <a:r>
              <a:rPr dirty="0" sz="1600" spc="3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40">
                <a:solidFill>
                  <a:srgbClr val="242424"/>
                </a:solidFill>
                <a:latin typeface="Arial MT"/>
                <a:cs typeface="Arial MT"/>
              </a:rPr>
              <a:t>validation</a:t>
            </a:r>
            <a:r>
              <a:rPr dirty="0" sz="1600" spc="2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70">
                <a:solidFill>
                  <a:srgbClr val="242424"/>
                </a:solidFill>
                <a:latin typeface="Arial MT"/>
                <a:cs typeface="Arial MT"/>
              </a:rPr>
              <a:t>layers</a:t>
            </a:r>
            <a:r>
              <a:rPr dirty="0" sz="1600" spc="4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242424"/>
                </a:solidFill>
                <a:latin typeface="Arial MT"/>
                <a:cs typeface="Arial MT"/>
              </a:rPr>
              <a:t>prevent</a:t>
            </a:r>
            <a:endParaRPr sz="1600">
              <a:latin typeface="Arial MT"/>
              <a:cs typeface="Arial MT"/>
            </a:endParaRPr>
          </a:p>
          <a:p>
            <a:pPr marL="23495">
              <a:lnSpc>
                <a:spcPct val="100000"/>
              </a:lnSpc>
              <a:spcBef>
                <a:spcPts val="110"/>
              </a:spcBef>
            </a:pPr>
            <a:r>
              <a:rPr dirty="0" sz="1600" spc="-50">
                <a:solidFill>
                  <a:srgbClr val="242424"/>
                </a:solidFill>
                <a:latin typeface="Arial MT"/>
                <a:cs typeface="Arial MT"/>
              </a:rPr>
              <a:t>fraud</a:t>
            </a:r>
            <a:r>
              <a:rPr dirty="0" sz="1600" spc="-2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80">
                <a:solidFill>
                  <a:srgbClr val="242424"/>
                </a:solidFill>
                <a:latin typeface="Arial MT"/>
                <a:cs typeface="Arial MT"/>
              </a:rPr>
              <a:t>and</a:t>
            </a:r>
            <a:r>
              <a:rPr dirty="0" sz="1600" spc="-3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242424"/>
                </a:solidFill>
                <a:latin typeface="Arial MT"/>
                <a:cs typeface="Arial MT"/>
              </a:rPr>
              <a:t>errors</a:t>
            </a:r>
            <a:endParaRPr sz="1600">
              <a:latin typeface="Arial MT"/>
              <a:cs typeface="Arial MT"/>
            </a:endParaRPr>
          </a:p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dirty="0" sz="1600" spc="-100">
                <a:solidFill>
                  <a:srgbClr val="242424"/>
                </a:solidFill>
                <a:latin typeface="Arial MT"/>
                <a:cs typeface="Arial MT"/>
              </a:rPr>
              <a:t>User</a:t>
            </a:r>
            <a:r>
              <a:rPr dirty="0" sz="1600" spc="-4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85">
                <a:solidFill>
                  <a:srgbClr val="242424"/>
                </a:solidFill>
                <a:latin typeface="Arial MT"/>
                <a:cs typeface="Arial MT"/>
              </a:rPr>
              <a:t>Experience:</a:t>
            </a:r>
            <a:r>
              <a:rPr dirty="0" sz="1600" spc="-3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85">
                <a:solidFill>
                  <a:srgbClr val="242424"/>
                </a:solidFill>
                <a:latin typeface="Arial MT"/>
                <a:cs typeface="Arial MT"/>
              </a:rPr>
              <a:t>Clear</a:t>
            </a:r>
            <a:r>
              <a:rPr dirty="0" sz="1600" spc="-2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60">
                <a:solidFill>
                  <a:srgbClr val="242424"/>
                </a:solidFill>
                <a:latin typeface="Arial MT"/>
                <a:cs typeface="Arial MT"/>
              </a:rPr>
              <a:t>error</a:t>
            </a:r>
            <a:r>
              <a:rPr dirty="0" sz="1600" spc="-5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65">
                <a:solidFill>
                  <a:srgbClr val="242424"/>
                </a:solidFill>
                <a:latin typeface="Arial MT"/>
                <a:cs typeface="Arial MT"/>
              </a:rPr>
              <a:t>messages</a:t>
            </a:r>
            <a:r>
              <a:rPr dirty="0" sz="160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20">
                <a:solidFill>
                  <a:srgbClr val="242424"/>
                </a:solidFill>
                <a:latin typeface="Arial MT"/>
                <a:cs typeface="Arial MT"/>
              </a:rPr>
              <a:t>at</a:t>
            </a:r>
            <a:r>
              <a:rPr dirty="0" sz="1600" spc="-3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80">
                <a:solidFill>
                  <a:srgbClr val="242424"/>
                </a:solidFill>
                <a:latin typeface="Arial MT"/>
                <a:cs typeface="Arial MT"/>
              </a:rPr>
              <a:t>each</a:t>
            </a:r>
            <a:r>
              <a:rPr dirty="0" sz="1600" spc="-3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30">
                <a:solidFill>
                  <a:srgbClr val="242424"/>
                </a:solidFill>
                <a:latin typeface="Arial MT"/>
                <a:cs typeface="Arial MT"/>
              </a:rPr>
              <a:t>failure</a:t>
            </a:r>
            <a:r>
              <a:rPr dirty="0" sz="1600" spc="-5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242424"/>
                </a:solidFill>
                <a:latin typeface="Arial MT"/>
                <a:cs typeface="Arial MT"/>
              </a:rPr>
              <a:t>point</a:t>
            </a:r>
            <a:endParaRPr sz="1600">
              <a:latin typeface="Arial MT"/>
              <a:cs typeface="Arial MT"/>
            </a:endParaRPr>
          </a:p>
          <a:p>
            <a:pPr marL="18415">
              <a:lnSpc>
                <a:spcPct val="100000"/>
              </a:lnSpc>
              <a:spcBef>
                <a:spcPts val="95"/>
              </a:spcBef>
            </a:pPr>
            <a:r>
              <a:rPr dirty="0" sz="1600" spc="-80">
                <a:solidFill>
                  <a:srgbClr val="242424"/>
                </a:solidFill>
                <a:latin typeface="Arial MT"/>
                <a:cs typeface="Arial MT"/>
              </a:rPr>
              <a:t>Data</a:t>
            </a:r>
            <a:r>
              <a:rPr dirty="0" sz="1600" spc="-7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45">
                <a:solidFill>
                  <a:srgbClr val="242424"/>
                </a:solidFill>
                <a:latin typeface="Arial MT"/>
                <a:cs typeface="Arial MT"/>
              </a:rPr>
              <a:t>Integrity:</a:t>
            </a:r>
            <a:r>
              <a:rPr dirty="0" sz="1600" spc="-7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80">
                <a:solidFill>
                  <a:srgbClr val="242424"/>
                </a:solidFill>
                <a:latin typeface="Arial MT"/>
                <a:cs typeface="Arial MT"/>
              </a:rPr>
              <a:t>No</a:t>
            </a:r>
            <a:r>
              <a:rPr dirty="0" sz="1600" spc="-5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40">
                <a:solidFill>
                  <a:srgbClr val="242424"/>
                </a:solidFill>
                <a:latin typeface="Arial MT"/>
                <a:cs typeface="Arial MT"/>
              </a:rPr>
              <a:t>transaction</a:t>
            </a:r>
            <a:r>
              <a:rPr dirty="0" sz="1600" spc="-7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60">
                <a:solidFill>
                  <a:srgbClr val="242424"/>
                </a:solidFill>
                <a:latin typeface="Arial MT"/>
                <a:cs typeface="Arial MT"/>
              </a:rPr>
              <a:t>proceeds</a:t>
            </a:r>
            <a:r>
              <a:rPr dirty="0" sz="160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30">
                <a:solidFill>
                  <a:srgbClr val="242424"/>
                </a:solidFill>
                <a:latin typeface="Arial MT"/>
                <a:cs typeface="Arial MT"/>
              </a:rPr>
              <a:t>without</a:t>
            </a:r>
            <a:r>
              <a:rPr dirty="0" sz="1600" spc="5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25">
                <a:solidFill>
                  <a:srgbClr val="242424"/>
                </a:solidFill>
                <a:latin typeface="Arial MT"/>
                <a:cs typeface="Arial MT"/>
              </a:rPr>
              <a:t>all</a:t>
            </a:r>
            <a:r>
              <a:rPr dirty="0" sz="1600" spc="-9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60">
                <a:solidFill>
                  <a:srgbClr val="242424"/>
                </a:solidFill>
                <a:latin typeface="Arial MT"/>
                <a:cs typeface="Arial MT"/>
              </a:rPr>
              <a:t>checks</a:t>
            </a:r>
            <a:r>
              <a:rPr dirty="0" sz="1600" spc="-2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242424"/>
                </a:solidFill>
                <a:latin typeface="Arial MT"/>
                <a:cs typeface="Arial MT"/>
              </a:rPr>
              <a:t>passing</a:t>
            </a:r>
            <a:endParaRPr sz="1600">
              <a:latin typeface="Arial MT"/>
              <a:cs typeface="Arial MT"/>
            </a:endParaRPr>
          </a:p>
          <a:p>
            <a:pPr marL="17780" marR="146050">
              <a:lnSpc>
                <a:spcPts val="2050"/>
              </a:lnSpc>
              <a:spcBef>
                <a:spcPts val="75"/>
              </a:spcBef>
            </a:pPr>
            <a:r>
              <a:rPr dirty="0" sz="1600" spc="-105">
                <a:solidFill>
                  <a:srgbClr val="242424"/>
                </a:solidFill>
                <a:latin typeface="Arial MT"/>
                <a:cs typeface="Arial MT"/>
              </a:rPr>
              <a:t>Real-</a:t>
            </a:r>
            <a:r>
              <a:rPr dirty="0" sz="1600" spc="-95">
                <a:solidFill>
                  <a:srgbClr val="242424"/>
                </a:solidFill>
                <a:latin typeface="Arial MT"/>
                <a:cs typeface="Arial MT"/>
              </a:rPr>
              <a:t>World</a:t>
            </a:r>
            <a:r>
              <a:rPr dirty="0" sz="1600" spc="-2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45">
                <a:solidFill>
                  <a:srgbClr val="242424"/>
                </a:solidFill>
                <a:latin typeface="Arial MT"/>
                <a:cs typeface="Arial MT"/>
              </a:rPr>
              <a:t>Simulation:</a:t>
            </a:r>
            <a:r>
              <a:rPr dirty="0" sz="1600" spc="-6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30">
                <a:solidFill>
                  <a:srgbClr val="242424"/>
                </a:solidFill>
                <a:latin typeface="Arial MT"/>
                <a:cs typeface="Arial MT"/>
              </a:rPr>
              <a:t>Mirrors</a:t>
            </a:r>
            <a:r>
              <a:rPr dirty="0" sz="1600" spc="-5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45">
                <a:solidFill>
                  <a:srgbClr val="242424"/>
                </a:solidFill>
                <a:latin typeface="Arial MT"/>
                <a:cs typeface="Arial MT"/>
              </a:rPr>
              <a:t>actual</a:t>
            </a:r>
            <a:r>
              <a:rPr dirty="0" sz="1600" spc="-5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45">
                <a:solidFill>
                  <a:srgbClr val="242424"/>
                </a:solidFill>
                <a:latin typeface="Arial MT"/>
                <a:cs typeface="Arial MT"/>
              </a:rPr>
              <a:t>banking</a:t>
            </a:r>
            <a:r>
              <a:rPr dirty="0" sz="1600" spc="-2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40">
                <a:solidFill>
                  <a:srgbClr val="242424"/>
                </a:solidFill>
                <a:latin typeface="Arial MT"/>
                <a:cs typeface="Arial MT"/>
              </a:rPr>
              <a:t>systems</a:t>
            </a:r>
            <a:r>
              <a:rPr dirty="0" sz="1600" spc="-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242424"/>
                </a:solidFill>
                <a:latin typeface="Arial MT"/>
                <a:cs typeface="Arial MT"/>
              </a:rPr>
              <a:t>with</a:t>
            </a:r>
            <a:r>
              <a:rPr dirty="0" sz="1600" spc="-7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50">
                <a:solidFill>
                  <a:srgbClr val="242424"/>
                </a:solidFill>
                <a:latin typeface="Arial MT"/>
                <a:cs typeface="Arial MT"/>
              </a:rPr>
              <a:t>daily</a:t>
            </a:r>
            <a:r>
              <a:rPr dirty="0" sz="1600" spc="-4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30">
                <a:solidFill>
                  <a:srgbClr val="242424"/>
                </a:solidFill>
                <a:latin typeface="Arial MT"/>
                <a:cs typeface="Arial MT"/>
              </a:rPr>
              <a:t>limits,</a:t>
            </a:r>
            <a:r>
              <a:rPr dirty="0" sz="1600" spc="-8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20">
                <a:solidFill>
                  <a:srgbClr val="242424"/>
                </a:solidFill>
                <a:latin typeface="Arial MT"/>
                <a:cs typeface="Arial MT"/>
              </a:rPr>
              <a:t>per- </a:t>
            </a:r>
            <a:r>
              <a:rPr dirty="0" sz="1600" spc="-40">
                <a:solidFill>
                  <a:srgbClr val="242424"/>
                </a:solidFill>
                <a:latin typeface="Arial MT"/>
                <a:cs typeface="Arial MT"/>
              </a:rPr>
              <a:t>transaction</a:t>
            </a:r>
            <a:r>
              <a:rPr dirty="0" sz="1600" spc="-3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25">
                <a:solidFill>
                  <a:srgbClr val="242424"/>
                </a:solidFill>
                <a:latin typeface="Arial MT"/>
                <a:cs typeface="Arial MT"/>
              </a:rPr>
              <a:t>limits,</a:t>
            </a:r>
            <a:r>
              <a:rPr dirty="0" sz="1600" spc="-9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80">
                <a:solidFill>
                  <a:srgbClr val="242424"/>
                </a:solidFill>
                <a:latin typeface="Arial MT"/>
                <a:cs typeface="Arial MT"/>
              </a:rPr>
              <a:t>and</a:t>
            </a:r>
            <a:r>
              <a:rPr dirty="0" sz="1600" spc="-3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65">
                <a:solidFill>
                  <a:srgbClr val="242424"/>
                </a:solidFill>
                <a:latin typeface="Arial MT"/>
                <a:cs typeface="Arial MT"/>
              </a:rPr>
              <a:t>cash</a:t>
            </a:r>
            <a:r>
              <a:rPr dirty="0" sz="1600" spc="-4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35">
                <a:solidFill>
                  <a:srgbClr val="242424"/>
                </a:solidFill>
                <a:latin typeface="Arial MT"/>
                <a:cs typeface="Arial MT"/>
              </a:rPr>
              <a:t>availability</a:t>
            </a:r>
            <a:r>
              <a:rPr dirty="0" sz="1600" spc="4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242424"/>
                </a:solidFill>
                <a:latin typeface="Arial MT"/>
                <a:cs typeface="Arial MT"/>
              </a:rPr>
              <a:t>checks</a:t>
            </a:r>
            <a:endParaRPr sz="1600">
              <a:latin typeface="Arial MT"/>
              <a:cs typeface="Arial MT"/>
            </a:endParaRPr>
          </a:p>
          <a:p>
            <a:pPr marL="18415">
              <a:lnSpc>
                <a:spcPts val="1905"/>
              </a:lnSpc>
            </a:pPr>
            <a:r>
              <a:rPr dirty="0" sz="1600" spc="-30">
                <a:solidFill>
                  <a:srgbClr val="242424"/>
                </a:solidFill>
                <a:latin typeface="Arial MT"/>
                <a:cs typeface="Arial MT"/>
              </a:rPr>
              <a:t>Maintainability:</a:t>
            </a:r>
            <a:r>
              <a:rPr dirty="0" sz="1600" spc="-19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105">
                <a:solidFill>
                  <a:srgbClr val="242424"/>
                </a:solidFill>
                <a:latin typeface="Arial MT"/>
                <a:cs typeface="Arial MT"/>
              </a:rPr>
              <a:t>Each</a:t>
            </a:r>
            <a:r>
              <a:rPr dirty="0" sz="1600" spc="-1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40">
                <a:solidFill>
                  <a:srgbClr val="242424"/>
                </a:solidFill>
                <a:latin typeface="Arial MT"/>
                <a:cs typeface="Arial MT"/>
              </a:rPr>
              <a:t>validation</a:t>
            </a:r>
            <a:r>
              <a:rPr dirty="0" sz="1600" spc="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80">
                <a:solidFill>
                  <a:srgbClr val="242424"/>
                </a:solidFill>
                <a:latin typeface="Arial MT"/>
                <a:cs typeface="Arial MT"/>
              </a:rPr>
              <a:t>layer</a:t>
            </a:r>
            <a:r>
              <a:rPr dirty="0" sz="1600" spc="-1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242424"/>
                </a:solidFill>
                <a:latin typeface="Arial MT"/>
                <a:cs typeface="Arial MT"/>
              </a:rPr>
              <a:t>is</a:t>
            </a:r>
            <a:r>
              <a:rPr dirty="0" sz="1600" spc="-7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60">
                <a:solidFill>
                  <a:srgbClr val="242424"/>
                </a:solidFill>
                <a:latin typeface="Arial MT"/>
                <a:cs typeface="Arial MT"/>
              </a:rPr>
              <a:t>independent</a:t>
            </a:r>
            <a:r>
              <a:rPr dirty="0" sz="1600" spc="11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80">
                <a:solidFill>
                  <a:srgbClr val="242424"/>
                </a:solidFill>
                <a:latin typeface="Arial MT"/>
                <a:cs typeface="Arial MT"/>
              </a:rPr>
              <a:t>and</a:t>
            </a:r>
            <a:r>
              <a:rPr dirty="0" sz="1600" spc="-3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55">
                <a:solidFill>
                  <a:srgbClr val="242424"/>
                </a:solidFill>
                <a:latin typeface="Arial MT"/>
                <a:cs typeface="Arial MT"/>
              </a:rPr>
              <a:t>easily</a:t>
            </a:r>
            <a:r>
              <a:rPr dirty="0" sz="1600" spc="-3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242424"/>
                </a:solidFill>
                <a:latin typeface="Arial MT"/>
                <a:cs typeface="Arial MT"/>
              </a:rPr>
              <a:t>modified</a:t>
            </a:r>
            <a:endParaRPr sz="16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45"/>
              </a:spcBef>
            </a:pPr>
            <a:r>
              <a:rPr dirty="0" sz="1650" spc="-185">
                <a:solidFill>
                  <a:srgbClr val="242424"/>
                </a:solidFill>
                <a:latin typeface="Arial MT"/>
                <a:cs typeface="Arial MT"/>
              </a:rPr>
              <a:t>SLIDE</a:t>
            </a:r>
            <a:r>
              <a:rPr dirty="0" sz="1650" spc="-5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50" spc="-40">
                <a:solidFill>
                  <a:srgbClr val="242424"/>
                </a:solidFill>
                <a:latin typeface="Arial MT"/>
                <a:cs typeface="Arial MT"/>
              </a:rPr>
              <a:t>5</a:t>
            </a:r>
            <a:r>
              <a:rPr dirty="0" sz="1650" spc="-8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242424"/>
                </a:solidFill>
                <a:latin typeface="Arial MT"/>
                <a:cs typeface="Arial MT"/>
              </a:rPr>
              <a:t>-</a:t>
            </a:r>
            <a:r>
              <a:rPr dirty="0" sz="1650" spc="34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50" spc="-155">
                <a:solidFill>
                  <a:srgbClr val="242424"/>
                </a:solidFill>
                <a:latin typeface="Arial MT"/>
                <a:cs typeface="Arial MT"/>
              </a:rPr>
              <a:t>LIVE</a:t>
            </a:r>
            <a:r>
              <a:rPr dirty="0" sz="1650" spc="-114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50" spc="-220">
                <a:solidFill>
                  <a:srgbClr val="242424"/>
                </a:solidFill>
                <a:latin typeface="Arial MT"/>
                <a:cs typeface="Arial MT"/>
              </a:rPr>
              <a:t>DEMO</a:t>
            </a:r>
            <a:r>
              <a:rPr dirty="0" sz="165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50" spc="-60">
                <a:solidFill>
                  <a:srgbClr val="242424"/>
                </a:solidFill>
                <a:latin typeface="Arial MT"/>
                <a:cs typeface="Arial MT"/>
              </a:rPr>
              <a:t>(1.5</a:t>
            </a:r>
            <a:r>
              <a:rPr dirty="0" sz="1650" spc="-13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50" spc="-80">
                <a:solidFill>
                  <a:srgbClr val="242424"/>
                </a:solidFill>
                <a:latin typeface="Arial MT"/>
                <a:cs typeface="Arial MT"/>
              </a:rPr>
              <a:t>minutes)Demo</a:t>
            </a:r>
            <a:r>
              <a:rPr dirty="0" sz="1650" spc="3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50" spc="-100">
                <a:solidFill>
                  <a:srgbClr val="242424"/>
                </a:solidFill>
                <a:latin typeface="Arial MT"/>
                <a:cs typeface="Arial MT"/>
              </a:rPr>
              <a:t>Scenario</a:t>
            </a:r>
            <a:r>
              <a:rPr dirty="0" sz="1650" spc="-10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242424"/>
                </a:solidFill>
                <a:latin typeface="Arial MT"/>
                <a:cs typeface="Arial MT"/>
              </a:rPr>
              <a:t>1:</a:t>
            </a:r>
            <a:r>
              <a:rPr dirty="0" sz="1650" spc="-19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50" spc="-75">
                <a:solidFill>
                  <a:srgbClr val="242424"/>
                </a:solidFill>
                <a:latin typeface="Arial MT"/>
                <a:cs typeface="Arial MT"/>
              </a:rPr>
              <a:t>Successful</a:t>
            </a:r>
            <a:r>
              <a:rPr dirty="0" sz="1650" spc="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50" spc="-45">
                <a:solidFill>
                  <a:srgbClr val="242424"/>
                </a:solidFill>
                <a:latin typeface="Arial MT"/>
                <a:cs typeface="Arial MT"/>
              </a:rPr>
              <a:t>Transaction</a:t>
            </a:r>
            <a:endParaRPr sz="1650">
              <a:latin typeface="Arial MT"/>
              <a:cs typeface="Arial MT"/>
            </a:endParaRPr>
          </a:p>
          <a:p>
            <a:pPr marL="17780">
              <a:lnSpc>
                <a:spcPct val="100000"/>
              </a:lnSpc>
              <a:spcBef>
                <a:spcPts val="150"/>
              </a:spcBef>
            </a:pPr>
            <a:r>
              <a:rPr dirty="0" sz="1550" spc="-10">
                <a:solidFill>
                  <a:srgbClr val="242424"/>
                </a:solidFill>
                <a:latin typeface="Arial MT"/>
                <a:cs typeface="Arial MT"/>
              </a:rPr>
              <a:t>Flowtext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550">
              <a:latin typeface="Arial MT"/>
              <a:cs typeface="Arial MT"/>
            </a:endParaRPr>
          </a:p>
          <a:p>
            <a:pPr marL="209550">
              <a:lnSpc>
                <a:spcPct val="100000"/>
              </a:lnSpc>
            </a:pPr>
            <a:r>
              <a:rPr dirty="0" sz="1650">
                <a:solidFill>
                  <a:srgbClr val="242424"/>
                </a:solidFill>
                <a:latin typeface="Calibri"/>
                <a:cs typeface="Calibri"/>
              </a:rPr>
              <a:t>WELCOME</a:t>
            </a:r>
            <a:r>
              <a:rPr dirty="0" sz="1650" spc="-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242424"/>
                </a:solidFill>
                <a:latin typeface="Calibri"/>
                <a:cs typeface="Calibri"/>
              </a:rPr>
              <a:t>TO</a:t>
            </a:r>
            <a:r>
              <a:rPr dirty="0" sz="1650" spc="-5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242424"/>
                </a:solidFill>
                <a:latin typeface="Calibri"/>
                <a:cs typeface="Calibri"/>
              </a:rPr>
              <a:t>ATM</a:t>
            </a:r>
            <a:r>
              <a:rPr dirty="0" sz="1650" spc="-7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242424"/>
                </a:solidFill>
                <a:latin typeface="Calibri"/>
                <a:cs typeface="Calibri"/>
              </a:rPr>
              <a:t>SIMULATION</a:t>
            </a: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50">
              <a:latin typeface="Calibri"/>
              <a:cs typeface="Calibri"/>
            </a:endParaRPr>
          </a:p>
          <a:p>
            <a:pPr marL="15240">
              <a:lnSpc>
                <a:spcPts val="2030"/>
              </a:lnSpc>
            </a:pPr>
            <a:r>
              <a:rPr dirty="0" sz="1700" spc="-50">
                <a:solidFill>
                  <a:srgbClr val="242424"/>
                </a:solidFill>
                <a:latin typeface="Calibri"/>
                <a:cs typeface="Calibri"/>
              </a:rPr>
              <a:t>Enter </a:t>
            </a:r>
            <a:r>
              <a:rPr dirty="0" sz="1700" spc="-10">
                <a:solidFill>
                  <a:srgbClr val="242424"/>
                </a:solidFill>
                <a:latin typeface="Calibri"/>
                <a:cs typeface="Calibri"/>
              </a:rPr>
              <a:t>Card</a:t>
            </a:r>
            <a:r>
              <a:rPr dirty="0" sz="1700" spc="-3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00" spc="-70">
                <a:solidFill>
                  <a:srgbClr val="242424"/>
                </a:solidFill>
                <a:latin typeface="Calibri"/>
                <a:cs typeface="Calibri"/>
              </a:rPr>
              <a:t>Number:</a:t>
            </a:r>
            <a:r>
              <a:rPr dirty="0" sz="1700" spc="1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00" spc="-285">
                <a:solidFill>
                  <a:srgbClr val="242424"/>
                </a:solidFill>
                <a:latin typeface="Calibri"/>
                <a:cs typeface="Calibri"/>
              </a:rPr>
              <a:t>1</a:t>
            </a:r>
            <a:r>
              <a:rPr dirty="0" sz="1700" spc="-5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00" spc="-25">
                <a:solidFill>
                  <a:srgbClr val="242424"/>
                </a:solidFill>
                <a:latin typeface="Calibri"/>
                <a:cs typeface="Calibri"/>
              </a:rPr>
              <a:t>001</a:t>
            </a:r>
            <a:endParaRPr sz="1700">
              <a:latin typeface="Calibri"/>
              <a:cs typeface="Calibri"/>
            </a:endParaRPr>
          </a:p>
          <a:p>
            <a:pPr marL="15240">
              <a:lnSpc>
                <a:spcPts val="2030"/>
              </a:lnSpc>
            </a:pPr>
            <a:r>
              <a:rPr dirty="0" sz="1700" spc="-55">
                <a:solidFill>
                  <a:srgbClr val="242424"/>
                </a:solidFill>
                <a:latin typeface="Calibri"/>
                <a:cs typeface="Calibri"/>
              </a:rPr>
              <a:t>Enter</a:t>
            </a:r>
            <a:r>
              <a:rPr dirty="0" sz="1700" spc="-4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42424"/>
                </a:solidFill>
                <a:latin typeface="Calibri"/>
                <a:cs typeface="Calibri"/>
              </a:rPr>
              <a:t>PIN:</a:t>
            </a:r>
            <a:r>
              <a:rPr dirty="0" sz="1700" spc="-7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00" spc="-285">
                <a:solidFill>
                  <a:srgbClr val="242424"/>
                </a:solidFill>
                <a:latin typeface="Calibri"/>
                <a:cs typeface="Calibri"/>
              </a:rPr>
              <a:t>1</a:t>
            </a:r>
            <a:r>
              <a:rPr dirty="0" sz="1700" spc="-8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00" spc="-25">
                <a:solidFill>
                  <a:srgbClr val="242424"/>
                </a:solidFill>
                <a:latin typeface="Calibri"/>
                <a:cs typeface="Calibri"/>
              </a:rPr>
              <a:t>234</a:t>
            </a:r>
            <a:endParaRPr sz="1700">
              <a:latin typeface="Calibri"/>
              <a:cs typeface="Calibri"/>
            </a:endParaRPr>
          </a:p>
          <a:p>
            <a:pPr marL="21590">
              <a:lnSpc>
                <a:spcPct val="100000"/>
              </a:lnSpc>
              <a:spcBef>
                <a:spcPts val="2060"/>
              </a:spcBef>
            </a:pPr>
            <a:r>
              <a:rPr dirty="0" sz="1700" spc="-55">
                <a:solidFill>
                  <a:srgbClr val="242424"/>
                </a:solidFill>
                <a:latin typeface="Calibri"/>
                <a:cs typeface="Calibri"/>
              </a:rPr>
              <a:t>Authentication</a:t>
            </a:r>
            <a:r>
              <a:rPr dirty="0" sz="170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242424"/>
                </a:solidFill>
                <a:latin typeface="Calibri"/>
                <a:cs typeface="Calibri"/>
              </a:rPr>
              <a:t>successful!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700">
              <a:latin typeface="Calibri"/>
              <a:cs typeface="Calibri"/>
            </a:endParaRPr>
          </a:p>
          <a:p>
            <a:pPr marL="23495">
              <a:lnSpc>
                <a:spcPct val="100000"/>
              </a:lnSpc>
            </a:pPr>
            <a:r>
              <a:rPr dirty="0" sz="1450" spc="-10">
                <a:solidFill>
                  <a:srgbClr val="242424"/>
                </a:solidFill>
                <a:latin typeface="Arial MT"/>
                <a:cs typeface="Arial MT"/>
              </a:rPr>
              <a:t>===</a:t>
            </a:r>
            <a:r>
              <a:rPr dirty="0" sz="1450" spc="-7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242424"/>
                </a:solidFill>
                <a:latin typeface="Arial MT"/>
                <a:cs typeface="Arial MT"/>
              </a:rPr>
              <a:t>ATM</a:t>
            </a:r>
            <a:r>
              <a:rPr dirty="0" sz="1450" spc="-10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242424"/>
                </a:solidFill>
                <a:latin typeface="Arial MT"/>
                <a:cs typeface="Arial MT"/>
              </a:rPr>
              <a:t>MENU</a:t>
            </a:r>
            <a:r>
              <a:rPr dirty="0" sz="1450" spc="-6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450" spc="-25">
                <a:solidFill>
                  <a:srgbClr val="242424"/>
                </a:solidFill>
                <a:latin typeface="Arial MT"/>
                <a:cs typeface="Arial MT"/>
              </a:rPr>
              <a:t>===</a:t>
            </a:r>
            <a:endParaRPr sz="1450">
              <a:latin typeface="Arial MT"/>
              <a:cs typeface="Arial MT"/>
            </a:endParaRPr>
          </a:p>
          <a:p>
            <a:pPr marL="221615" indent="-208915">
              <a:lnSpc>
                <a:spcPct val="100000"/>
              </a:lnSpc>
              <a:spcBef>
                <a:spcPts val="195"/>
              </a:spcBef>
              <a:buAutoNum type="arabicPeriod"/>
              <a:tabLst>
                <a:tab pos="221615" algn="l"/>
              </a:tabLst>
            </a:pPr>
            <a:r>
              <a:rPr dirty="0" sz="1550" spc="-65">
                <a:solidFill>
                  <a:srgbClr val="242424"/>
                </a:solidFill>
                <a:latin typeface="Arial MT"/>
                <a:cs typeface="Arial MT"/>
              </a:rPr>
              <a:t>Check</a:t>
            </a:r>
            <a:r>
              <a:rPr dirty="0" sz="1550" spc="-10">
                <a:solidFill>
                  <a:srgbClr val="242424"/>
                </a:solidFill>
                <a:latin typeface="Arial MT"/>
                <a:cs typeface="Arial MT"/>
              </a:rPr>
              <a:t> Balance</a:t>
            </a:r>
            <a:endParaRPr sz="1550">
              <a:latin typeface="Arial MT"/>
              <a:cs typeface="Arial MT"/>
            </a:endParaRPr>
          </a:p>
          <a:p>
            <a:pPr marL="225425" indent="-201930">
              <a:lnSpc>
                <a:spcPct val="100000"/>
              </a:lnSpc>
              <a:spcBef>
                <a:spcPts val="120"/>
              </a:spcBef>
              <a:buAutoNum type="arabicPeriod"/>
              <a:tabLst>
                <a:tab pos="225425" algn="l"/>
              </a:tabLst>
            </a:pPr>
            <a:r>
              <a:rPr dirty="0" sz="1600" spc="-65">
                <a:solidFill>
                  <a:srgbClr val="242424"/>
                </a:solidFill>
                <a:latin typeface="Arial MT"/>
                <a:cs typeface="Arial MT"/>
              </a:rPr>
              <a:t>Withdraw</a:t>
            </a:r>
            <a:r>
              <a:rPr dirty="0" sz="1600" spc="-4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20">
                <a:solidFill>
                  <a:srgbClr val="242424"/>
                </a:solidFill>
                <a:latin typeface="Arial MT"/>
                <a:cs typeface="Arial MT"/>
              </a:rPr>
              <a:t>Cash</a:t>
            </a:r>
            <a:endParaRPr sz="1600">
              <a:latin typeface="Arial MT"/>
              <a:cs typeface="Arial MT"/>
            </a:endParaRPr>
          </a:p>
          <a:p>
            <a:pPr marL="220345" indent="-198755">
              <a:lnSpc>
                <a:spcPct val="100000"/>
              </a:lnSpc>
              <a:spcBef>
                <a:spcPts val="145"/>
              </a:spcBef>
              <a:buAutoNum type="arabicPeriod"/>
              <a:tabLst>
                <a:tab pos="220345" algn="l"/>
              </a:tabLst>
            </a:pPr>
            <a:r>
              <a:rPr dirty="0" sz="1550" spc="-30">
                <a:solidFill>
                  <a:srgbClr val="242424"/>
                </a:solidFill>
                <a:latin typeface="Arial MT"/>
                <a:cs typeface="Arial MT"/>
              </a:rPr>
              <a:t>Deposit</a:t>
            </a:r>
            <a:r>
              <a:rPr dirty="0" sz="1550" spc="-3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20">
                <a:solidFill>
                  <a:srgbClr val="242424"/>
                </a:solidFill>
                <a:latin typeface="Arial MT"/>
                <a:cs typeface="Arial MT"/>
              </a:rPr>
              <a:t>Cash</a:t>
            </a:r>
            <a:endParaRPr sz="1550">
              <a:latin typeface="Arial MT"/>
              <a:cs typeface="Arial MT"/>
            </a:endParaRPr>
          </a:p>
          <a:p>
            <a:pPr marL="222250" indent="-199390">
              <a:lnSpc>
                <a:spcPct val="100000"/>
              </a:lnSpc>
              <a:spcBef>
                <a:spcPts val="155"/>
              </a:spcBef>
              <a:buAutoNum type="arabicPeriod"/>
              <a:tabLst>
                <a:tab pos="222250" algn="l"/>
              </a:tabLst>
            </a:pPr>
            <a:r>
              <a:rPr dirty="0" sz="1550" spc="-35">
                <a:solidFill>
                  <a:srgbClr val="242424"/>
                </a:solidFill>
                <a:latin typeface="Arial MT"/>
                <a:cs typeface="Arial MT"/>
              </a:rPr>
              <a:t>Transfer</a:t>
            </a:r>
            <a:r>
              <a:rPr dirty="0" sz="1550" spc="-5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242424"/>
                </a:solidFill>
                <a:latin typeface="Arial MT"/>
                <a:cs typeface="Arial MT"/>
              </a:rPr>
              <a:t>Money</a:t>
            </a:r>
            <a:endParaRPr sz="1550">
              <a:latin typeface="Arial MT"/>
              <a:cs typeface="Arial MT"/>
            </a:endParaRPr>
          </a:p>
          <a:p>
            <a:pPr marL="220345" indent="-194310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220345" algn="l"/>
              </a:tabLst>
            </a:pPr>
            <a:r>
              <a:rPr dirty="0" sz="1550" spc="-10">
                <a:solidFill>
                  <a:srgbClr val="242424"/>
                </a:solidFill>
                <a:latin typeface="Arial MT"/>
                <a:cs typeface="Arial MT"/>
              </a:rPr>
              <a:t>Print</a:t>
            </a:r>
            <a:r>
              <a:rPr dirty="0" sz="1550" spc="-8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242424"/>
                </a:solidFill>
                <a:latin typeface="Arial MT"/>
                <a:cs typeface="Arial MT"/>
              </a:rPr>
              <a:t>Receipt</a:t>
            </a:r>
            <a:endParaRPr sz="1550">
              <a:latin typeface="Arial MT"/>
              <a:cs typeface="Arial MT"/>
            </a:endParaRPr>
          </a:p>
          <a:p>
            <a:pPr marL="219710" indent="-193040">
              <a:lnSpc>
                <a:spcPct val="100000"/>
              </a:lnSpc>
              <a:spcBef>
                <a:spcPts val="125"/>
              </a:spcBef>
              <a:buAutoNum type="arabicPeriod"/>
              <a:tabLst>
                <a:tab pos="219710" algn="l"/>
              </a:tabLst>
            </a:pPr>
            <a:r>
              <a:rPr dirty="0" sz="1550" spc="-20">
                <a:solidFill>
                  <a:srgbClr val="242424"/>
                </a:solidFill>
                <a:latin typeface="Arial MT"/>
                <a:cs typeface="Arial MT"/>
              </a:rPr>
              <a:t>Exit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1550">
              <a:latin typeface="Arial MT"/>
              <a:cs typeface="Arial MT"/>
            </a:endParaRPr>
          </a:p>
          <a:p>
            <a:pPr marL="19685">
              <a:lnSpc>
                <a:spcPct val="100000"/>
              </a:lnSpc>
            </a:pPr>
            <a:r>
              <a:rPr dirty="0" sz="1700" spc="-10">
                <a:solidFill>
                  <a:srgbClr val="242424"/>
                </a:solidFill>
                <a:latin typeface="Calibri"/>
                <a:cs typeface="Calibri"/>
              </a:rPr>
              <a:t>Choose</a:t>
            </a:r>
            <a:r>
              <a:rPr dirty="0" sz="170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00" spc="-70">
                <a:solidFill>
                  <a:srgbClr val="242424"/>
                </a:solidFill>
                <a:latin typeface="Calibri"/>
                <a:cs typeface="Calibri"/>
              </a:rPr>
              <a:t>option:</a:t>
            </a:r>
            <a:r>
              <a:rPr dirty="0" sz="1700" spc="-2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00" spc="-345">
                <a:solidFill>
                  <a:srgbClr val="242424"/>
                </a:solidFill>
                <a:latin typeface="Calibri"/>
                <a:cs typeface="Calibri"/>
              </a:rPr>
              <a:t>1</a:t>
            </a:r>
            <a:endParaRPr sz="1700">
              <a:latin typeface="Calibri"/>
              <a:cs typeface="Calibri"/>
            </a:endParaRPr>
          </a:p>
          <a:p>
            <a:pPr marL="19050">
              <a:lnSpc>
                <a:spcPct val="100000"/>
              </a:lnSpc>
              <a:spcBef>
                <a:spcPts val="2010"/>
              </a:spcBef>
            </a:pPr>
            <a:r>
              <a:rPr dirty="0" sz="1700" spc="-65">
                <a:solidFill>
                  <a:srgbClr val="242424"/>
                </a:solidFill>
                <a:latin typeface="Calibri"/>
                <a:cs typeface="Calibri"/>
              </a:rPr>
              <a:t>Current</a:t>
            </a:r>
            <a:r>
              <a:rPr dirty="0" sz="1700" spc="-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00" spc="-30">
                <a:solidFill>
                  <a:srgbClr val="242424"/>
                </a:solidFill>
                <a:latin typeface="Calibri"/>
                <a:cs typeface="Calibri"/>
              </a:rPr>
              <a:t>balance:</a:t>
            </a:r>
            <a:r>
              <a:rPr dirty="0" sz="1700" spc="-1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242424"/>
                </a:solidFill>
                <a:latin typeface="Calibri"/>
                <a:cs typeface="Calibri"/>
              </a:rPr>
              <a:t>â5000.00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700">
              <a:latin typeface="Calibri"/>
              <a:cs typeface="Calibri"/>
            </a:endParaRPr>
          </a:p>
          <a:p>
            <a:pPr marL="19685">
              <a:lnSpc>
                <a:spcPct val="100000"/>
              </a:lnSpc>
            </a:pPr>
            <a:r>
              <a:rPr dirty="0" sz="1550" spc="-50">
                <a:solidFill>
                  <a:srgbClr val="242424"/>
                </a:solidFill>
                <a:latin typeface="Arial MT"/>
                <a:cs typeface="Arial MT"/>
              </a:rPr>
              <a:t>Choose</a:t>
            </a:r>
            <a:r>
              <a:rPr dirty="0" sz="1550" spc="-20">
                <a:solidFill>
                  <a:srgbClr val="242424"/>
                </a:solidFill>
                <a:latin typeface="Arial MT"/>
                <a:cs typeface="Arial MT"/>
              </a:rPr>
              <a:t> option:</a:t>
            </a:r>
            <a:r>
              <a:rPr dirty="0" sz="1550" spc="-6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50">
                <a:solidFill>
                  <a:srgbClr val="242424"/>
                </a:solidFill>
                <a:latin typeface="Arial MT"/>
                <a:cs typeface="Arial MT"/>
              </a:rPr>
              <a:t>2</a:t>
            </a:r>
            <a:endParaRPr sz="1550">
              <a:latin typeface="Arial MT"/>
              <a:cs typeface="Arial MT"/>
            </a:endParaRPr>
          </a:p>
          <a:p>
            <a:pPr marL="18415">
              <a:lnSpc>
                <a:spcPct val="100000"/>
              </a:lnSpc>
              <a:spcBef>
                <a:spcPts val="190"/>
              </a:spcBef>
            </a:pPr>
            <a:r>
              <a:rPr dirty="0" sz="1550" spc="-55">
                <a:solidFill>
                  <a:srgbClr val="242424"/>
                </a:solidFill>
                <a:latin typeface="Arial MT"/>
                <a:cs typeface="Arial MT"/>
              </a:rPr>
              <a:t>Enter</a:t>
            </a:r>
            <a:r>
              <a:rPr dirty="0" sz="1550" spc="-1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20">
                <a:solidFill>
                  <a:srgbClr val="242424"/>
                </a:solidFill>
                <a:latin typeface="Arial MT"/>
                <a:cs typeface="Arial MT"/>
              </a:rPr>
              <a:t>amount</a:t>
            </a:r>
            <a:r>
              <a:rPr dirty="0" sz="1550" spc="2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242424"/>
                </a:solidFill>
                <a:latin typeface="Arial MT"/>
                <a:cs typeface="Arial MT"/>
              </a:rPr>
              <a:t>to</a:t>
            </a:r>
            <a:r>
              <a:rPr dirty="0" sz="1550" spc="-4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30">
                <a:solidFill>
                  <a:srgbClr val="242424"/>
                </a:solidFill>
                <a:latin typeface="Arial MT"/>
                <a:cs typeface="Arial MT"/>
              </a:rPr>
              <a:t>withdraw:</a:t>
            </a:r>
            <a:r>
              <a:rPr dirty="0" sz="1550" spc="-2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20">
                <a:solidFill>
                  <a:srgbClr val="242424"/>
                </a:solidFill>
                <a:latin typeface="Arial MT"/>
                <a:cs typeface="Arial MT"/>
              </a:rPr>
              <a:t>8500</a:t>
            </a:r>
            <a:endParaRPr sz="1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17538" y="455420"/>
            <a:ext cx="4243070" cy="100222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25"/>
              </a:spcBef>
            </a:pPr>
            <a:r>
              <a:rPr dirty="0" sz="1500" spc="-20">
                <a:solidFill>
                  <a:srgbClr val="242424"/>
                </a:solidFill>
                <a:latin typeface="Arial MT"/>
                <a:cs typeface="Arial MT"/>
              </a:rPr>
              <a:t>Please</a:t>
            </a:r>
            <a:r>
              <a:rPr dirty="0" sz="1500" spc="-4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242424"/>
                </a:solidFill>
                <a:latin typeface="Arial MT"/>
                <a:cs typeface="Arial MT"/>
              </a:rPr>
              <a:t>collect</a:t>
            </a:r>
            <a:r>
              <a:rPr dirty="0" sz="1500" spc="-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242424"/>
                </a:solidFill>
                <a:latin typeface="Arial MT"/>
                <a:cs typeface="Arial MT"/>
              </a:rPr>
              <a:t>your</a:t>
            </a:r>
            <a:r>
              <a:rPr dirty="0" sz="1500" spc="-4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242424"/>
                </a:solidFill>
                <a:latin typeface="Arial MT"/>
                <a:cs typeface="Arial MT"/>
              </a:rPr>
              <a:t>cash:</a:t>
            </a:r>
            <a:r>
              <a:rPr dirty="0" sz="1500" spc="-5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242424"/>
                </a:solidFill>
                <a:latin typeface="Arial MT"/>
                <a:cs typeface="Arial MT"/>
              </a:rPr>
              <a:t>8500.00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500">
              <a:latin typeface="Arial MT"/>
              <a:cs typeface="Arial MT"/>
            </a:endParaRPr>
          </a:p>
          <a:p>
            <a:pPr marL="22860">
              <a:lnSpc>
                <a:spcPct val="100000"/>
              </a:lnSpc>
            </a:pPr>
            <a:r>
              <a:rPr dirty="0" sz="1500" spc="-80">
                <a:solidFill>
                  <a:srgbClr val="242424"/>
                </a:solidFill>
                <a:latin typeface="Arial MT"/>
                <a:cs typeface="Arial MT"/>
              </a:rPr>
              <a:t>===</a:t>
            </a:r>
            <a:r>
              <a:rPr dirty="0" sz="1500" spc="-2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 spc="-75">
                <a:solidFill>
                  <a:srgbClr val="242424"/>
                </a:solidFill>
                <a:latin typeface="Arial MT"/>
                <a:cs typeface="Arial MT"/>
              </a:rPr>
              <a:t>TRANSACTION</a:t>
            </a:r>
            <a:r>
              <a:rPr dirty="0" sz="1500" spc="2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 spc="-110">
                <a:solidFill>
                  <a:srgbClr val="242424"/>
                </a:solidFill>
                <a:latin typeface="Arial MT"/>
                <a:cs typeface="Arial MT"/>
              </a:rPr>
              <a:t>RECEIPT</a:t>
            </a:r>
            <a:r>
              <a:rPr dirty="0" sz="1500" spc="4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 spc="-25">
                <a:solidFill>
                  <a:srgbClr val="242424"/>
                </a:solidFill>
                <a:latin typeface="Arial MT"/>
                <a:cs typeface="Arial MT"/>
              </a:rPr>
              <a:t>===</a:t>
            </a:r>
            <a:endParaRPr sz="150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dirty="0" sz="1650" spc="-110">
                <a:solidFill>
                  <a:srgbClr val="242424"/>
                </a:solidFill>
                <a:latin typeface="Arial MT"/>
                <a:cs typeface="Arial MT"/>
              </a:rPr>
              <a:t>Date:</a:t>
            </a:r>
            <a:r>
              <a:rPr dirty="0" sz="1650" spc="6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50" spc="-95">
                <a:solidFill>
                  <a:srgbClr val="242424"/>
                </a:solidFill>
                <a:latin typeface="Arial MT"/>
                <a:cs typeface="Arial MT"/>
              </a:rPr>
              <a:t>2026-</a:t>
            </a:r>
            <a:r>
              <a:rPr dirty="0" sz="1650" spc="-90">
                <a:solidFill>
                  <a:srgbClr val="242424"/>
                </a:solidFill>
                <a:latin typeface="Arial MT"/>
                <a:cs typeface="Arial MT"/>
              </a:rPr>
              <a:t>03-</a:t>
            </a:r>
            <a:r>
              <a:rPr dirty="0" sz="1650" spc="-10">
                <a:solidFill>
                  <a:srgbClr val="242424"/>
                </a:solidFill>
                <a:latin typeface="Arial MT"/>
                <a:cs typeface="Arial MT"/>
              </a:rPr>
              <a:t>22T14:30:00</a:t>
            </a:r>
            <a:endParaRPr sz="165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z="1600" spc="-65">
                <a:solidFill>
                  <a:srgbClr val="242424"/>
                </a:solidFill>
                <a:latin typeface="Arial MT"/>
                <a:cs typeface="Arial MT"/>
              </a:rPr>
              <a:t>Account:</a:t>
            </a:r>
            <a:r>
              <a:rPr dirty="0" sz="1600" spc="-4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20">
                <a:solidFill>
                  <a:srgbClr val="242424"/>
                </a:solidFill>
                <a:latin typeface="Arial MT"/>
                <a:cs typeface="Arial MT"/>
              </a:rPr>
              <a:t>1001</a:t>
            </a:r>
            <a:endParaRPr sz="1600">
              <a:latin typeface="Arial MT"/>
              <a:cs typeface="Arial MT"/>
            </a:endParaRPr>
          </a:p>
          <a:p>
            <a:pPr marL="18415" marR="1821180" indent="-1270">
              <a:lnSpc>
                <a:spcPct val="105000"/>
              </a:lnSpc>
            </a:pPr>
            <a:r>
              <a:rPr dirty="0" sz="1600" spc="-55">
                <a:solidFill>
                  <a:srgbClr val="242424"/>
                </a:solidFill>
                <a:latin typeface="Arial MT"/>
                <a:cs typeface="Arial MT"/>
              </a:rPr>
              <a:t>Details:</a:t>
            </a:r>
            <a:r>
              <a:rPr dirty="0" sz="1600" spc="-4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65">
                <a:solidFill>
                  <a:srgbClr val="242424"/>
                </a:solidFill>
                <a:latin typeface="Arial MT"/>
                <a:cs typeface="Arial MT"/>
              </a:rPr>
              <a:t>Withdrawal:</a:t>
            </a:r>
            <a:r>
              <a:rPr dirty="0" sz="1600" spc="-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50">
                <a:solidFill>
                  <a:srgbClr val="242424"/>
                </a:solidFill>
                <a:latin typeface="Arial MT"/>
                <a:cs typeface="Arial MT"/>
              </a:rPr>
              <a:t>8500.00 </a:t>
            </a:r>
            <a:r>
              <a:rPr dirty="0" sz="1600" spc="-85">
                <a:solidFill>
                  <a:srgbClr val="242424"/>
                </a:solidFill>
                <a:latin typeface="Arial MT"/>
                <a:cs typeface="Arial MT"/>
              </a:rPr>
              <a:t>Balance:</a:t>
            </a:r>
            <a:r>
              <a:rPr dirty="0" sz="1600" spc="2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242424"/>
                </a:solidFill>
                <a:latin typeface="Arial MT"/>
                <a:cs typeface="Arial MT"/>
              </a:rPr>
              <a:t>$4500.00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600">
              <a:latin typeface="Arial MT"/>
              <a:cs typeface="Arial MT"/>
            </a:endParaRPr>
          </a:p>
          <a:p>
            <a:pPr marL="18415">
              <a:lnSpc>
                <a:spcPct val="100000"/>
              </a:lnSpc>
            </a:pPr>
            <a:r>
              <a:rPr dirty="0" sz="1550" spc="-55">
                <a:solidFill>
                  <a:srgbClr val="242424"/>
                </a:solidFill>
                <a:latin typeface="Arial MT"/>
                <a:cs typeface="Arial MT"/>
              </a:rPr>
              <a:t>Demo </a:t>
            </a:r>
            <a:r>
              <a:rPr dirty="0" sz="1550" spc="-45">
                <a:solidFill>
                  <a:srgbClr val="242424"/>
                </a:solidFill>
                <a:latin typeface="Arial MT"/>
                <a:cs typeface="Arial MT"/>
              </a:rPr>
              <a:t>Scenario </a:t>
            </a:r>
            <a:r>
              <a:rPr dirty="0" sz="1550" spc="-30">
                <a:solidFill>
                  <a:srgbClr val="242424"/>
                </a:solidFill>
                <a:latin typeface="Arial MT"/>
                <a:cs typeface="Arial MT"/>
              </a:rPr>
              <a:t>2:</a:t>
            </a:r>
            <a:r>
              <a:rPr dirty="0" sz="1550" spc="-12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55">
                <a:solidFill>
                  <a:srgbClr val="242424"/>
                </a:solidFill>
                <a:latin typeface="Arial MT"/>
                <a:cs typeface="Arial MT"/>
              </a:rPr>
              <a:t>Error</a:t>
            </a:r>
            <a:r>
              <a:rPr dirty="0" sz="1550" spc="-6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30">
                <a:solidFill>
                  <a:srgbClr val="242424"/>
                </a:solidFill>
                <a:latin typeface="Arial MT"/>
                <a:cs typeface="Arial MT"/>
              </a:rPr>
              <a:t>Handling</a:t>
            </a:r>
            <a:r>
              <a:rPr dirty="0" sz="1550" spc="-2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242424"/>
                </a:solidFill>
                <a:latin typeface="Arial MT"/>
                <a:cs typeface="Arial MT"/>
              </a:rPr>
              <a:t>Casetext</a:t>
            </a:r>
            <a:endParaRPr sz="1550">
              <a:latin typeface="Arial MT"/>
              <a:cs typeface="Arial MT"/>
            </a:endParaRPr>
          </a:p>
          <a:p>
            <a:pPr marL="23495">
              <a:lnSpc>
                <a:spcPct val="100000"/>
              </a:lnSpc>
              <a:spcBef>
                <a:spcPts val="290"/>
              </a:spcBef>
            </a:pPr>
            <a:r>
              <a:rPr dirty="0" sz="1400">
                <a:solidFill>
                  <a:srgbClr val="242424"/>
                </a:solidFill>
                <a:latin typeface="Arial MT"/>
                <a:cs typeface="Arial MT"/>
              </a:rPr>
              <a:t>===</a:t>
            </a:r>
            <a:r>
              <a:rPr dirty="0" sz="1400" spc="6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42424"/>
                </a:solidFill>
                <a:latin typeface="Arial MT"/>
                <a:cs typeface="Arial MT"/>
              </a:rPr>
              <a:t>ATM</a:t>
            </a:r>
            <a:r>
              <a:rPr dirty="0" sz="1400" spc="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42424"/>
                </a:solidFill>
                <a:latin typeface="Arial MT"/>
                <a:cs typeface="Arial MT"/>
              </a:rPr>
              <a:t>MENU</a:t>
            </a:r>
            <a:r>
              <a:rPr dirty="0" sz="1400" spc="3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400" spc="-25">
                <a:solidFill>
                  <a:srgbClr val="242424"/>
                </a:solidFill>
                <a:latin typeface="Arial MT"/>
                <a:cs typeface="Arial MT"/>
              </a:rPr>
              <a:t>===</a:t>
            </a:r>
            <a:endParaRPr sz="1400">
              <a:latin typeface="Arial MT"/>
              <a:cs typeface="Arial MT"/>
            </a:endParaRPr>
          </a:p>
          <a:p>
            <a:pPr marL="220979" indent="-208279">
              <a:lnSpc>
                <a:spcPct val="100000"/>
              </a:lnSpc>
              <a:spcBef>
                <a:spcPts val="250"/>
              </a:spcBef>
              <a:buAutoNum type="arabicPeriod"/>
              <a:tabLst>
                <a:tab pos="220979" algn="l"/>
              </a:tabLst>
            </a:pPr>
            <a:r>
              <a:rPr dirty="0" sz="1500" spc="-20">
                <a:solidFill>
                  <a:srgbClr val="242424"/>
                </a:solidFill>
                <a:latin typeface="Arial MT"/>
                <a:cs typeface="Arial MT"/>
              </a:rPr>
              <a:t>Check</a:t>
            </a:r>
            <a:r>
              <a:rPr dirty="0" sz="1500" spc="-7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242424"/>
                </a:solidFill>
                <a:latin typeface="Arial MT"/>
                <a:cs typeface="Arial MT"/>
              </a:rPr>
              <a:t>Balance</a:t>
            </a:r>
            <a:endParaRPr sz="1500">
              <a:latin typeface="Arial MT"/>
              <a:cs typeface="Arial MT"/>
            </a:endParaRPr>
          </a:p>
          <a:p>
            <a:pPr marL="224154" indent="-200660">
              <a:lnSpc>
                <a:spcPct val="100000"/>
              </a:lnSpc>
              <a:spcBef>
                <a:spcPts val="229"/>
              </a:spcBef>
              <a:buAutoNum type="arabicPeriod"/>
              <a:tabLst>
                <a:tab pos="224154" algn="l"/>
              </a:tabLst>
            </a:pPr>
            <a:r>
              <a:rPr dirty="0" sz="1500">
                <a:solidFill>
                  <a:srgbClr val="242424"/>
                </a:solidFill>
                <a:latin typeface="Arial MT"/>
                <a:cs typeface="Arial MT"/>
              </a:rPr>
              <a:t>Withdraw</a:t>
            </a:r>
            <a:r>
              <a:rPr dirty="0" sz="1500" spc="-10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 spc="-20">
                <a:solidFill>
                  <a:srgbClr val="242424"/>
                </a:solidFill>
                <a:latin typeface="Arial MT"/>
                <a:cs typeface="Arial MT"/>
              </a:rPr>
              <a:t>Cash</a:t>
            </a:r>
            <a:endParaRPr sz="1500">
              <a:latin typeface="Arial MT"/>
              <a:cs typeface="Arial MT"/>
            </a:endParaRPr>
          </a:p>
          <a:p>
            <a:pPr marL="220345" indent="-198755">
              <a:lnSpc>
                <a:spcPct val="100000"/>
              </a:lnSpc>
              <a:spcBef>
                <a:spcPts val="250"/>
              </a:spcBef>
              <a:buAutoNum type="arabicPeriod"/>
              <a:tabLst>
                <a:tab pos="220345" algn="l"/>
              </a:tabLst>
            </a:pPr>
            <a:r>
              <a:rPr dirty="0" sz="1500">
                <a:solidFill>
                  <a:srgbClr val="242424"/>
                </a:solidFill>
                <a:latin typeface="Arial MT"/>
                <a:cs typeface="Arial MT"/>
              </a:rPr>
              <a:t>Deposit</a:t>
            </a:r>
            <a:r>
              <a:rPr dirty="0" sz="1500" spc="-5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 spc="-20">
                <a:solidFill>
                  <a:srgbClr val="242424"/>
                </a:solidFill>
                <a:latin typeface="Arial MT"/>
                <a:cs typeface="Arial MT"/>
              </a:rPr>
              <a:t>Cash</a:t>
            </a:r>
            <a:endParaRPr sz="1500">
              <a:latin typeface="Arial MT"/>
              <a:cs typeface="Arial MT"/>
            </a:endParaRPr>
          </a:p>
          <a:p>
            <a:pPr marL="222885" indent="-200025">
              <a:lnSpc>
                <a:spcPct val="100000"/>
              </a:lnSpc>
              <a:spcBef>
                <a:spcPts val="180"/>
              </a:spcBef>
              <a:buAutoNum type="arabicPeriod"/>
              <a:tabLst>
                <a:tab pos="222885" algn="l"/>
              </a:tabLst>
            </a:pPr>
            <a:r>
              <a:rPr dirty="0" sz="1500" spc="-10">
                <a:solidFill>
                  <a:srgbClr val="242424"/>
                </a:solidFill>
                <a:latin typeface="Arial MT"/>
                <a:cs typeface="Arial MT"/>
              </a:rPr>
              <a:t>Transfer</a:t>
            </a:r>
            <a:r>
              <a:rPr dirty="0" sz="1500" spc="-3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242424"/>
                </a:solidFill>
                <a:latin typeface="Arial MT"/>
                <a:cs typeface="Arial MT"/>
              </a:rPr>
              <a:t>Money</a:t>
            </a:r>
            <a:endParaRPr sz="1500">
              <a:latin typeface="Arial MT"/>
              <a:cs typeface="Arial MT"/>
            </a:endParaRPr>
          </a:p>
          <a:p>
            <a:pPr marL="221615" indent="-195580">
              <a:lnSpc>
                <a:spcPct val="100000"/>
              </a:lnSpc>
              <a:spcBef>
                <a:spcPts val="285"/>
              </a:spcBef>
              <a:buAutoNum type="arabicPeriod"/>
              <a:tabLst>
                <a:tab pos="221615" algn="l"/>
              </a:tabLst>
            </a:pPr>
            <a:r>
              <a:rPr dirty="0" sz="1450">
                <a:solidFill>
                  <a:srgbClr val="242424"/>
                </a:solidFill>
                <a:latin typeface="Arial MT"/>
                <a:cs typeface="Arial MT"/>
              </a:rPr>
              <a:t>Print</a:t>
            </a:r>
            <a:r>
              <a:rPr dirty="0" sz="1450" spc="10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242424"/>
                </a:solidFill>
                <a:latin typeface="Arial MT"/>
                <a:cs typeface="Arial MT"/>
              </a:rPr>
              <a:t>Receipt</a:t>
            </a:r>
            <a:endParaRPr sz="1450">
              <a:latin typeface="Arial MT"/>
              <a:cs typeface="Arial MT"/>
            </a:endParaRPr>
          </a:p>
          <a:p>
            <a:pPr marL="220979" indent="-194310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220979" algn="l"/>
              </a:tabLst>
            </a:pPr>
            <a:r>
              <a:rPr dirty="0" sz="1450" spc="-20">
                <a:solidFill>
                  <a:srgbClr val="242424"/>
                </a:solidFill>
                <a:latin typeface="Arial MT"/>
                <a:cs typeface="Arial MT"/>
              </a:rPr>
              <a:t>Exit</a:t>
            </a:r>
            <a:endParaRPr sz="1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450">
              <a:latin typeface="Arial MT"/>
              <a:cs typeface="Arial MT"/>
            </a:endParaRPr>
          </a:p>
          <a:p>
            <a:pPr marL="19685">
              <a:lnSpc>
                <a:spcPct val="100000"/>
              </a:lnSpc>
              <a:spcBef>
                <a:spcPts val="5"/>
              </a:spcBef>
            </a:pPr>
            <a:r>
              <a:rPr dirty="0" sz="1500" spc="-20">
                <a:solidFill>
                  <a:srgbClr val="242424"/>
                </a:solidFill>
                <a:latin typeface="Arial MT"/>
                <a:cs typeface="Arial MT"/>
              </a:rPr>
              <a:t>Choose</a:t>
            </a:r>
            <a:r>
              <a:rPr dirty="0" sz="1500" spc="-1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242424"/>
                </a:solidFill>
                <a:latin typeface="Arial MT"/>
                <a:cs typeface="Arial MT"/>
              </a:rPr>
              <a:t>option:</a:t>
            </a:r>
            <a:r>
              <a:rPr dirty="0" sz="1500" spc="-4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 spc="-50">
                <a:solidFill>
                  <a:srgbClr val="242424"/>
                </a:solidFill>
                <a:latin typeface="Arial MT"/>
                <a:cs typeface="Arial MT"/>
              </a:rPr>
              <a:t>2</a:t>
            </a:r>
            <a:endParaRPr sz="1500">
              <a:latin typeface="Arial MT"/>
              <a:cs typeface="Arial MT"/>
            </a:endParaRPr>
          </a:p>
          <a:p>
            <a:pPr marL="17780">
              <a:lnSpc>
                <a:spcPct val="100000"/>
              </a:lnSpc>
              <a:spcBef>
                <a:spcPts val="130"/>
              </a:spcBef>
            </a:pPr>
            <a:r>
              <a:rPr dirty="0" sz="1600" spc="-85">
                <a:solidFill>
                  <a:srgbClr val="242424"/>
                </a:solidFill>
                <a:latin typeface="Arial MT"/>
                <a:cs typeface="Arial MT"/>
              </a:rPr>
              <a:t>Enter</a:t>
            </a:r>
            <a:r>
              <a:rPr dirty="0" sz="1600" spc="-3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55">
                <a:solidFill>
                  <a:srgbClr val="242424"/>
                </a:solidFill>
                <a:latin typeface="Arial MT"/>
                <a:cs typeface="Arial MT"/>
              </a:rPr>
              <a:t>amount</a:t>
            </a:r>
            <a:r>
              <a:rPr dirty="0" sz="1600" spc="-2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242424"/>
                </a:solidFill>
                <a:latin typeface="Arial MT"/>
                <a:cs typeface="Arial MT"/>
              </a:rPr>
              <a:t>to</a:t>
            </a:r>
            <a:r>
              <a:rPr dirty="0" sz="1600" spc="-7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50">
                <a:solidFill>
                  <a:srgbClr val="242424"/>
                </a:solidFill>
                <a:latin typeface="Arial MT"/>
                <a:cs typeface="Arial MT"/>
              </a:rPr>
              <a:t>withdraw:</a:t>
            </a:r>
            <a:r>
              <a:rPr dirty="0" sz="160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242424"/>
                </a:solidFill>
                <a:latin typeface="Arial MT"/>
                <a:cs typeface="Arial MT"/>
              </a:rPr>
              <a:t>$10000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600">
              <a:latin typeface="Arial MT"/>
              <a:cs typeface="Arial MT"/>
            </a:endParaRPr>
          </a:p>
          <a:p>
            <a:pPr marL="19050">
              <a:lnSpc>
                <a:spcPct val="100000"/>
              </a:lnSpc>
            </a:pPr>
            <a:r>
              <a:rPr dirty="0" sz="1450">
                <a:solidFill>
                  <a:srgbClr val="242424"/>
                </a:solidFill>
                <a:latin typeface="Arial MT"/>
                <a:cs typeface="Arial MT"/>
              </a:rPr>
              <a:t>Error:</a:t>
            </a:r>
            <a:r>
              <a:rPr dirty="0" sz="1450" spc="8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242424"/>
                </a:solidFill>
                <a:latin typeface="Arial MT"/>
                <a:cs typeface="Arial MT"/>
              </a:rPr>
              <a:t>Insufficient</a:t>
            </a:r>
            <a:r>
              <a:rPr dirty="0" sz="1450" spc="29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242424"/>
                </a:solidFill>
                <a:latin typeface="Arial MT"/>
                <a:cs typeface="Arial MT"/>
              </a:rPr>
              <a:t>funds</a:t>
            </a:r>
            <a:endParaRPr sz="1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450">
              <a:latin typeface="Arial MT"/>
              <a:cs typeface="Arial MT"/>
            </a:endParaRPr>
          </a:p>
          <a:p>
            <a:pPr marL="19685">
              <a:lnSpc>
                <a:spcPct val="100000"/>
              </a:lnSpc>
            </a:pPr>
            <a:r>
              <a:rPr dirty="0" sz="1550" spc="-50">
                <a:solidFill>
                  <a:srgbClr val="242424"/>
                </a:solidFill>
                <a:latin typeface="Arial MT"/>
                <a:cs typeface="Arial MT"/>
              </a:rPr>
              <a:t>Choose</a:t>
            </a:r>
            <a:r>
              <a:rPr dirty="0" sz="1550" spc="-20">
                <a:solidFill>
                  <a:srgbClr val="242424"/>
                </a:solidFill>
                <a:latin typeface="Arial MT"/>
                <a:cs typeface="Arial MT"/>
              </a:rPr>
              <a:t> option:</a:t>
            </a:r>
            <a:r>
              <a:rPr dirty="0" sz="1550" spc="-6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50">
                <a:solidFill>
                  <a:srgbClr val="242424"/>
                </a:solidFill>
                <a:latin typeface="Arial MT"/>
                <a:cs typeface="Arial MT"/>
              </a:rPr>
              <a:t>2</a:t>
            </a:r>
            <a:endParaRPr sz="1550">
              <a:latin typeface="Arial MT"/>
              <a:cs typeface="Arial MT"/>
            </a:endParaRPr>
          </a:p>
          <a:p>
            <a:pPr marL="17780">
              <a:lnSpc>
                <a:spcPct val="100000"/>
              </a:lnSpc>
              <a:spcBef>
                <a:spcPts val="175"/>
              </a:spcBef>
            </a:pPr>
            <a:r>
              <a:rPr dirty="0" sz="1550" spc="-55">
                <a:solidFill>
                  <a:srgbClr val="242424"/>
                </a:solidFill>
                <a:latin typeface="Arial MT"/>
                <a:cs typeface="Arial MT"/>
              </a:rPr>
              <a:t>Enter</a:t>
            </a:r>
            <a:r>
              <a:rPr dirty="0" sz="1550" spc="-20">
                <a:solidFill>
                  <a:srgbClr val="242424"/>
                </a:solidFill>
                <a:latin typeface="Arial MT"/>
                <a:cs typeface="Arial MT"/>
              </a:rPr>
              <a:t> amount</a:t>
            </a:r>
            <a:r>
              <a:rPr dirty="0" sz="1550" spc="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242424"/>
                </a:solidFill>
                <a:latin typeface="Arial MT"/>
                <a:cs typeface="Arial MT"/>
              </a:rPr>
              <a:t>to</a:t>
            </a:r>
            <a:r>
              <a:rPr dirty="0" sz="1550" spc="-5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25">
                <a:solidFill>
                  <a:srgbClr val="242424"/>
                </a:solidFill>
                <a:latin typeface="Arial MT"/>
                <a:cs typeface="Arial MT"/>
              </a:rPr>
              <a:t>withdraw: </a:t>
            </a:r>
            <a:r>
              <a:rPr dirty="0" sz="1550" spc="-10">
                <a:solidFill>
                  <a:srgbClr val="242424"/>
                </a:solidFill>
                <a:latin typeface="Arial MT"/>
                <a:cs typeface="Arial MT"/>
              </a:rPr>
              <a:t>$1500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1550">
              <a:latin typeface="Arial MT"/>
              <a:cs typeface="Arial MT"/>
            </a:endParaRPr>
          </a:p>
          <a:p>
            <a:pPr marL="18415">
              <a:lnSpc>
                <a:spcPct val="100000"/>
              </a:lnSpc>
            </a:pPr>
            <a:r>
              <a:rPr dirty="0" sz="1500" spc="-25">
                <a:solidFill>
                  <a:srgbClr val="242424"/>
                </a:solidFill>
                <a:latin typeface="Arial MT"/>
                <a:cs typeface="Arial MT"/>
              </a:rPr>
              <a:t>Error:</a:t>
            </a:r>
            <a:r>
              <a:rPr dirty="0" sz="1500" spc="-5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 spc="-20">
                <a:solidFill>
                  <a:srgbClr val="242424"/>
                </a:solidFill>
                <a:latin typeface="Arial MT"/>
                <a:cs typeface="Arial MT"/>
              </a:rPr>
              <a:t>Single</a:t>
            </a:r>
            <a:r>
              <a:rPr dirty="0" sz="1500" spc="2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242424"/>
                </a:solidFill>
                <a:latin typeface="Arial MT"/>
                <a:cs typeface="Arial MT"/>
              </a:rPr>
              <a:t>withdrawal</a:t>
            </a:r>
            <a:r>
              <a:rPr dirty="0" sz="1500" spc="3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242424"/>
                </a:solidFill>
                <a:latin typeface="Arial MT"/>
                <a:cs typeface="Arial MT"/>
              </a:rPr>
              <a:t>exceeds</a:t>
            </a:r>
            <a:r>
              <a:rPr dirty="0" sz="1500" spc="3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242424"/>
                </a:solidFill>
                <a:latin typeface="Arial MT"/>
                <a:cs typeface="Arial MT"/>
              </a:rPr>
              <a:t>limit</a:t>
            </a:r>
            <a:r>
              <a:rPr dirty="0" sz="1500" spc="4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242424"/>
                </a:solidFill>
                <a:latin typeface="Arial MT"/>
                <a:cs typeface="Arial MT"/>
              </a:rPr>
              <a:t>of </a:t>
            </a:r>
            <a:r>
              <a:rPr dirty="0" sz="1500" spc="-10">
                <a:solidFill>
                  <a:srgbClr val="242424"/>
                </a:solidFill>
                <a:latin typeface="Arial MT"/>
                <a:cs typeface="Arial MT"/>
              </a:rPr>
              <a:t>$1000.00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1500">
              <a:latin typeface="Arial MT"/>
              <a:cs typeface="Arial MT"/>
            </a:endParaRPr>
          </a:p>
          <a:p>
            <a:pPr marL="19685">
              <a:lnSpc>
                <a:spcPct val="100000"/>
              </a:lnSpc>
            </a:pPr>
            <a:r>
              <a:rPr dirty="0" sz="1550" spc="-50">
                <a:solidFill>
                  <a:srgbClr val="242424"/>
                </a:solidFill>
                <a:latin typeface="Arial MT"/>
                <a:cs typeface="Arial MT"/>
              </a:rPr>
              <a:t>Choose</a:t>
            </a:r>
            <a:r>
              <a:rPr dirty="0" sz="1550" spc="-20">
                <a:solidFill>
                  <a:srgbClr val="242424"/>
                </a:solidFill>
                <a:latin typeface="Arial MT"/>
                <a:cs typeface="Arial MT"/>
              </a:rPr>
              <a:t> option:</a:t>
            </a:r>
            <a:r>
              <a:rPr dirty="0" sz="1550" spc="-6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50">
                <a:solidFill>
                  <a:srgbClr val="242424"/>
                </a:solidFill>
                <a:latin typeface="Arial MT"/>
                <a:cs typeface="Arial MT"/>
              </a:rPr>
              <a:t>2</a:t>
            </a:r>
            <a:endParaRPr sz="1550">
              <a:latin typeface="Arial MT"/>
              <a:cs typeface="Arial MT"/>
            </a:endParaRPr>
          </a:p>
          <a:p>
            <a:pPr marL="17780">
              <a:lnSpc>
                <a:spcPct val="100000"/>
              </a:lnSpc>
              <a:spcBef>
                <a:spcPts val="155"/>
              </a:spcBef>
            </a:pPr>
            <a:r>
              <a:rPr dirty="0" sz="1550" spc="-55">
                <a:solidFill>
                  <a:srgbClr val="242424"/>
                </a:solidFill>
                <a:latin typeface="Arial MT"/>
                <a:cs typeface="Arial MT"/>
              </a:rPr>
              <a:t>Enter</a:t>
            </a:r>
            <a:r>
              <a:rPr dirty="0" sz="1550" spc="-1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20">
                <a:solidFill>
                  <a:srgbClr val="242424"/>
                </a:solidFill>
                <a:latin typeface="Arial MT"/>
                <a:cs typeface="Arial MT"/>
              </a:rPr>
              <a:t>amount</a:t>
            </a:r>
            <a:r>
              <a:rPr dirty="0" sz="1550" spc="2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242424"/>
                </a:solidFill>
                <a:latin typeface="Arial MT"/>
                <a:cs typeface="Arial MT"/>
              </a:rPr>
              <a:t>to</a:t>
            </a:r>
            <a:r>
              <a:rPr dirty="0" sz="1550" spc="-4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30">
                <a:solidFill>
                  <a:srgbClr val="242424"/>
                </a:solidFill>
                <a:latin typeface="Arial MT"/>
                <a:cs typeface="Arial MT"/>
              </a:rPr>
              <a:t>withdraw:</a:t>
            </a:r>
            <a:r>
              <a:rPr dirty="0" sz="1550" spc="-2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60">
                <a:solidFill>
                  <a:srgbClr val="242424"/>
                </a:solidFill>
                <a:latin typeface="Arial MT"/>
                <a:cs typeface="Arial MT"/>
              </a:rPr>
              <a:t>8-</a:t>
            </a:r>
            <a:r>
              <a:rPr dirty="0" sz="1550" spc="-25">
                <a:solidFill>
                  <a:srgbClr val="242424"/>
                </a:solidFill>
                <a:latin typeface="Arial MT"/>
                <a:cs typeface="Arial MT"/>
              </a:rPr>
              <a:t>50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550">
              <a:latin typeface="Arial MT"/>
              <a:cs typeface="Arial MT"/>
            </a:endParaRPr>
          </a:p>
          <a:p>
            <a:pPr marL="18415">
              <a:lnSpc>
                <a:spcPct val="100000"/>
              </a:lnSpc>
            </a:pPr>
            <a:r>
              <a:rPr dirty="0" sz="1500" spc="-30">
                <a:solidFill>
                  <a:srgbClr val="242424"/>
                </a:solidFill>
                <a:latin typeface="Arial MT"/>
                <a:cs typeface="Arial MT"/>
              </a:rPr>
              <a:t>Error:</a:t>
            </a:r>
            <a:r>
              <a:rPr dirty="0" sz="1500" spc="-7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242424"/>
                </a:solidFill>
                <a:latin typeface="Arial MT"/>
                <a:cs typeface="Arial MT"/>
              </a:rPr>
              <a:t>Invalid</a:t>
            </a:r>
            <a:r>
              <a:rPr dirty="0" sz="1500" spc="-6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242424"/>
                </a:solidFill>
                <a:latin typeface="Arial MT"/>
                <a:cs typeface="Arial MT"/>
              </a:rPr>
              <a:t>amount!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500">
              <a:latin typeface="Arial MT"/>
              <a:cs typeface="Arial MT"/>
            </a:endParaRPr>
          </a:p>
          <a:p>
            <a:pPr marL="19685">
              <a:lnSpc>
                <a:spcPct val="100000"/>
              </a:lnSpc>
            </a:pPr>
            <a:r>
              <a:rPr dirty="0" sz="1500" spc="-20">
                <a:solidFill>
                  <a:srgbClr val="242424"/>
                </a:solidFill>
                <a:latin typeface="Arial MT"/>
                <a:cs typeface="Arial MT"/>
              </a:rPr>
              <a:t>Choose</a:t>
            </a:r>
            <a:r>
              <a:rPr dirty="0" sz="1500" spc="-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242424"/>
                </a:solidFill>
                <a:latin typeface="Arial MT"/>
                <a:cs typeface="Arial MT"/>
              </a:rPr>
              <a:t>option:</a:t>
            </a:r>
            <a:r>
              <a:rPr dirty="0" sz="1500" spc="-3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 spc="-50">
                <a:solidFill>
                  <a:srgbClr val="242424"/>
                </a:solidFill>
                <a:latin typeface="Arial MT"/>
                <a:cs typeface="Arial MT"/>
              </a:rPr>
              <a:t>6</a:t>
            </a:r>
            <a:endParaRPr sz="1500">
              <a:latin typeface="Arial MT"/>
              <a:cs typeface="Arial MT"/>
            </a:endParaRPr>
          </a:p>
          <a:p>
            <a:pPr marL="19050">
              <a:lnSpc>
                <a:spcPct val="100000"/>
              </a:lnSpc>
              <a:spcBef>
                <a:spcPts val="200"/>
              </a:spcBef>
            </a:pPr>
            <a:r>
              <a:rPr dirty="0" sz="1550" spc="-35">
                <a:solidFill>
                  <a:srgbClr val="242424"/>
                </a:solidFill>
                <a:latin typeface="Arial MT"/>
                <a:cs typeface="Arial MT"/>
              </a:rPr>
              <a:t>Logged</a:t>
            </a:r>
            <a:r>
              <a:rPr dirty="0" sz="1550" spc="-7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242424"/>
                </a:solidFill>
                <a:latin typeface="Arial MT"/>
                <a:cs typeface="Arial MT"/>
              </a:rPr>
              <a:t>out</a:t>
            </a:r>
            <a:r>
              <a:rPr dirty="0" sz="1550" spc="-6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242424"/>
                </a:solidFill>
                <a:latin typeface="Arial MT"/>
                <a:cs typeface="Arial MT"/>
              </a:rPr>
              <a:t>successfully!</a:t>
            </a:r>
            <a:endParaRPr sz="155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55"/>
              </a:spcBef>
            </a:pPr>
            <a:r>
              <a:rPr dirty="0" sz="1650" spc="-120">
                <a:solidFill>
                  <a:srgbClr val="242424"/>
                </a:solidFill>
                <a:latin typeface="Arial MT"/>
                <a:cs typeface="Arial MT"/>
              </a:rPr>
              <a:t>Demo</a:t>
            </a:r>
            <a:r>
              <a:rPr dirty="0" sz="1650" spc="-3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50" spc="-100">
                <a:solidFill>
                  <a:srgbClr val="242424"/>
                </a:solidFill>
                <a:latin typeface="Arial MT"/>
                <a:cs typeface="Arial MT"/>
              </a:rPr>
              <a:t>Scenario</a:t>
            </a:r>
            <a:r>
              <a:rPr dirty="0" sz="1650" spc="-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50" spc="-60">
                <a:solidFill>
                  <a:srgbClr val="242424"/>
                </a:solidFill>
                <a:latin typeface="Arial MT"/>
                <a:cs typeface="Arial MT"/>
              </a:rPr>
              <a:t>3:</a:t>
            </a:r>
            <a:r>
              <a:rPr dirty="0" sz="1650" spc="-14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50" spc="-125">
                <a:solidFill>
                  <a:srgbClr val="242424"/>
                </a:solidFill>
                <a:latin typeface="Arial MT"/>
                <a:cs typeface="Arial MT"/>
              </a:rPr>
              <a:t>Fund</a:t>
            </a:r>
            <a:r>
              <a:rPr dirty="0" sz="1650" spc="-3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242424"/>
                </a:solidFill>
                <a:latin typeface="Arial MT"/>
                <a:cs typeface="Arial MT"/>
              </a:rPr>
              <a:t>Transfertext</a:t>
            </a:r>
            <a:endParaRPr sz="1650">
              <a:latin typeface="Arial MT"/>
              <a:cs typeface="Arial MT"/>
            </a:endParaRPr>
          </a:p>
          <a:p>
            <a:pPr marL="23495">
              <a:lnSpc>
                <a:spcPct val="100000"/>
              </a:lnSpc>
              <a:spcBef>
                <a:spcPts val="215"/>
              </a:spcBef>
            </a:pPr>
            <a:r>
              <a:rPr dirty="0" sz="1450" spc="-10">
                <a:solidFill>
                  <a:srgbClr val="242424"/>
                </a:solidFill>
                <a:latin typeface="Arial MT"/>
                <a:cs typeface="Arial MT"/>
              </a:rPr>
              <a:t>===</a:t>
            </a:r>
            <a:r>
              <a:rPr dirty="0" sz="1450" spc="-7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242424"/>
                </a:solidFill>
                <a:latin typeface="Arial MT"/>
                <a:cs typeface="Arial MT"/>
              </a:rPr>
              <a:t>ATM</a:t>
            </a:r>
            <a:r>
              <a:rPr dirty="0" sz="1450" spc="-10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242424"/>
                </a:solidFill>
                <a:latin typeface="Arial MT"/>
                <a:cs typeface="Arial MT"/>
              </a:rPr>
              <a:t>MENU</a:t>
            </a:r>
            <a:r>
              <a:rPr dirty="0" sz="1450" spc="-6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450" spc="-25">
                <a:solidFill>
                  <a:srgbClr val="242424"/>
                </a:solidFill>
                <a:latin typeface="Arial MT"/>
                <a:cs typeface="Arial MT"/>
              </a:rPr>
              <a:t>===</a:t>
            </a:r>
            <a:endParaRPr sz="1450">
              <a:latin typeface="Arial MT"/>
              <a:cs typeface="Arial MT"/>
            </a:endParaRPr>
          </a:p>
          <a:p>
            <a:pPr marL="19685">
              <a:lnSpc>
                <a:spcPct val="100000"/>
              </a:lnSpc>
              <a:spcBef>
                <a:spcPts val="244"/>
              </a:spcBef>
            </a:pPr>
            <a:r>
              <a:rPr dirty="0" sz="1500" spc="-20">
                <a:solidFill>
                  <a:srgbClr val="242424"/>
                </a:solidFill>
                <a:latin typeface="Arial MT"/>
                <a:cs typeface="Arial MT"/>
              </a:rPr>
              <a:t>Choose</a:t>
            </a:r>
            <a:r>
              <a:rPr dirty="0" sz="1500" spc="-1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242424"/>
                </a:solidFill>
                <a:latin typeface="Arial MT"/>
                <a:cs typeface="Arial MT"/>
              </a:rPr>
              <a:t>option:</a:t>
            </a:r>
            <a:r>
              <a:rPr dirty="0" sz="1500" spc="-5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 spc="-50">
                <a:solidFill>
                  <a:srgbClr val="242424"/>
                </a:solidFill>
                <a:latin typeface="Arial MT"/>
                <a:cs typeface="Arial MT"/>
              </a:rPr>
              <a:t>4</a:t>
            </a:r>
            <a:endParaRPr sz="1500">
              <a:latin typeface="Arial MT"/>
              <a:cs typeface="Arial MT"/>
            </a:endParaRPr>
          </a:p>
          <a:p>
            <a:pPr marL="17780" marR="1280160">
              <a:lnSpc>
                <a:spcPts val="2050"/>
              </a:lnSpc>
              <a:spcBef>
                <a:spcPts val="90"/>
              </a:spcBef>
            </a:pPr>
            <a:r>
              <a:rPr dirty="0" sz="1550" spc="-65">
                <a:solidFill>
                  <a:srgbClr val="242424"/>
                </a:solidFill>
                <a:latin typeface="Arial MT"/>
                <a:cs typeface="Arial MT"/>
              </a:rPr>
              <a:t>Enter</a:t>
            </a:r>
            <a:r>
              <a:rPr dirty="0" sz="1550" spc="-4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242424"/>
                </a:solidFill>
                <a:latin typeface="Arial MT"/>
                <a:cs typeface="Arial MT"/>
              </a:rPr>
              <a:t>target</a:t>
            </a:r>
            <a:r>
              <a:rPr dirty="0" sz="1550" spc="-8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25">
                <a:solidFill>
                  <a:srgbClr val="242424"/>
                </a:solidFill>
                <a:latin typeface="Arial MT"/>
                <a:cs typeface="Arial MT"/>
              </a:rPr>
              <a:t>account</a:t>
            </a:r>
            <a:r>
              <a:rPr dirty="0" sz="1550" spc="5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45">
                <a:solidFill>
                  <a:srgbClr val="242424"/>
                </a:solidFill>
                <a:latin typeface="Arial MT"/>
                <a:cs typeface="Arial MT"/>
              </a:rPr>
              <a:t>number:</a:t>
            </a:r>
            <a:r>
              <a:rPr dirty="0" sz="1550" spc="-7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20">
                <a:solidFill>
                  <a:srgbClr val="242424"/>
                </a:solidFill>
                <a:latin typeface="Arial MT"/>
                <a:cs typeface="Arial MT"/>
              </a:rPr>
              <a:t>1002 </a:t>
            </a:r>
            <a:r>
              <a:rPr dirty="0" sz="1550" spc="-55">
                <a:solidFill>
                  <a:srgbClr val="242424"/>
                </a:solidFill>
                <a:latin typeface="Arial MT"/>
                <a:cs typeface="Arial MT"/>
              </a:rPr>
              <a:t>Enter</a:t>
            </a:r>
            <a:r>
              <a:rPr dirty="0" sz="1550" spc="-4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20">
                <a:solidFill>
                  <a:srgbClr val="242424"/>
                </a:solidFill>
                <a:latin typeface="Arial MT"/>
                <a:cs typeface="Arial MT"/>
              </a:rPr>
              <a:t>amount</a:t>
            </a:r>
            <a:r>
              <a:rPr dirty="0" sz="1550" spc="-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242424"/>
                </a:solidFill>
                <a:latin typeface="Arial MT"/>
                <a:cs typeface="Arial MT"/>
              </a:rPr>
              <a:t>to</a:t>
            </a:r>
            <a:r>
              <a:rPr dirty="0" sz="1550" spc="-10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242424"/>
                </a:solidFill>
                <a:latin typeface="Arial MT"/>
                <a:cs typeface="Arial MT"/>
              </a:rPr>
              <a:t>transfer:</a:t>
            </a:r>
            <a:r>
              <a:rPr dirty="0" sz="1550" spc="-2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50" spc="-20">
                <a:solidFill>
                  <a:srgbClr val="242424"/>
                </a:solidFill>
                <a:latin typeface="Arial MT"/>
                <a:cs typeface="Arial MT"/>
              </a:rPr>
              <a:t>$300</a:t>
            </a:r>
            <a:endParaRPr sz="1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18102" y="431275"/>
            <a:ext cx="3619500" cy="2853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100"/>
              </a:spcBef>
            </a:pPr>
            <a:r>
              <a:rPr dirty="0" sz="1700" spc="-35">
                <a:solidFill>
                  <a:srgbClr val="242424"/>
                </a:solidFill>
                <a:latin typeface="Calibri"/>
                <a:cs typeface="Calibri"/>
              </a:rPr>
              <a:t>Transfer</a:t>
            </a:r>
            <a:r>
              <a:rPr dirty="0" sz="1700" spc="2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242424"/>
                </a:solidFill>
                <a:latin typeface="Calibri"/>
                <a:cs typeface="Calibri"/>
              </a:rPr>
              <a:t>successful!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700">
              <a:latin typeface="Calibri"/>
              <a:cs typeface="Calibri"/>
            </a:endParaRPr>
          </a:p>
          <a:p>
            <a:pPr marL="22225">
              <a:lnSpc>
                <a:spcPct val="100000"/>
              </a:lnSpc>
            </a:pPr>
            <a:r>
              <a:rPr dirty="0" sz="1500" spc="-80">
                <a:solidFill>
                  <a:srgbClr val="242424"/>
                </a:solidFill>
                <a:latin typeface="Arial MT"/>
                <a:cs typeface="Arial MT"/>
              </a:rPr>
              <a:t>===</a:t>
            </a:r>
            <a:r>
              <a:rPr dirty="0" sz="1500" spc="-2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 spc="-75">
                <a:solidFill>
                  <a:srgbClr val="242424"/>
                </a:solidFill>
                <a:latin typeface="Arial MT"/>
                <a:cs typeface="Arial MT"/>
              </a:rPr>
              <a:t>TRANSACTION</a:t>
            </a:r>
            <a:r>
              <a:rPr dirty="0" sz="1500" spc="2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 spc="-110">
                <a:solidFill>
                  <a:srgbClr val="242424"/>
                </a:solidFill>
                <a:latin typeface="Arial MT"/>
                <a:cs typeface="Arial MT"/>
              </a:rPr>
              <a:t>RECEIPT</a:t>
            </a:r>
            <a:r>
              <a:rPr dirty="0" sz="1500" spc="4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500" spc="-25">
                <a:solidFill>
                  <a:srgbClr val="242424"/>
                </a:solidFill>
                <a:latin typeface="Arial MT"/>
                <a:cs typeface="Arial MT"/>
              </a:rPr>
              <a:t>===</a:t>
            </a:r>
            <a:endParaRPr sz="150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150"/>
              </a:spcBef>
            </a:pPr>
            <a:r>
              <a:rPr dirty="0" sz="1600" spc="-85">
                <a:solidFill>
                  <a:srgbClr val="242424"/>
                </a:solidFill>
                <a:latin typeface="Arial MT"/>
                <a:cs typeface="Arial MT"/>
              </a:rPr>
              <a:t>Date:</a:t>
            </a:r>
            <a:r>
              <a:rPr dirty="0" sz="1600" spc="6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80">
                <a:solidFill>
                  <a:srgbClr val="242424"/>
                </a:solidFill>
                <a:latin typeface="Arial MT"/>
                <a:cs typeface="Arial MT"/>
              </a:rPr>
              <a:t>2026-</a:t>
            </a:r>
            <a:r>
              <a:rPr dirty="0" sz="1600" spc="-75">
                <a:solidFill>
                  <a:srgbClr val="242424"/>
                </a:solidFill>
                <a:latin typeface="Arial MT"/>
                <a:cs typeface="Arial MT"/>
              </a:rPr>
              <a:t>03-</a:t>
            </a:r>
            <a:r>
              <a:rPr dirty="0" sz="1600" spc="-10">
                <a:solidFill>
                  <a:srgbClr val="242424"/>
                </a:solidFill>
                <a:latin typeface="Arial MT"/>
                <a:cs typeface="Arial MT"/>
              </a:rPr>
              <a:t>22T14:35:00</a:t>
            </a:r>
            <a:endParaRPr sz="1600">
              <a:latin typeface="Arial MT"/>
              <a:cs typeface="Arial MT"/>
            </a:endParaRPr>
          </a:p>
          <a:p>
            <a:pPr marL="24765">
              <a:lnSpc>
                <a:spcPct val="100000"/>
              </a:lnSpc>
              <a:spcBef>
                <a:spcPts val="110"/>
              </a:spcBef>
            </a:pPr>
            <a:r>
              <a:rPr dirty="0" sz="1600" spc="-65">
                <a:solidFill>
                  <a:srgbClr val="242424"/>
                </a:solidFill>
                <a:latin typeface="Arial MT"/>
                <a:cs typeface="Arial MT"/>
              </a:rPr>
              <a:t>Account:</a:t>
            </a:r>
            <a:r>
              <a:rPr dirty="0" sz="1600" spc="-4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20">
                <a:solidFill>
                  <a:srgbClr val="242424"/>
                </a:solidFill>
                <a:latin typeface="Arial MT"/>
                <a:cs typeface="Arial MT"/>
              </a:rPr>
              <a:t>1001</a:t>
            </a:r>
            <a:endParaRPr sz="160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242424"/>
                </a:solidFill>
                <a:latin typeface="Arial MT"/>
                <a:cs typeface="Arial MT"/>
              </a:rPr>
              <a:t>Details:</a:t>
            </a:r>
            <a:r>
              <a:rPr dirty="0" sz="1600" spc="-3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75">
                <a:solidFill>
                  <a:srgbClr val="242424"/>
                </a:solidFill>
                <a:latin typeface="Arial MT"/>
                <a:cs typeface="Arial MT"/>
              </a:rPr>
              <a:t>Transfer:</a:t>
            </a:r>
            <a:r>
              <a:rPr dirty="0" sz="1600" spc="-1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75">
                <a:solidFill>
                  <a:srgbClr val="242424"/>
                </a:solidFill>
                <a:latin typeface="Arial MT"/>
                <a:cs typeface="Arial MT"/>
              </a:rPr>
              <a:t>$300.00</a:t>
            </a:r>
            <a:r>
              <a:rPr dirty="0" sz="1600">
                <a:solidFill>
                  <a:srgbClr val="242424"/>
                </a:solidFill>
                <a:latin typeface="Arial MT"/>
                <a:cs typeface="Arial MT"/>
              </a:rPr>
              <a:t> to</a:t>
            </a:r>
            <a:r>
              <a:rPr dirty="0" sz="1600" spc="-8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55">
                <a:solidFill>
                  <a:srgbClr val="242424"/>
                </a:solidFill>
                <a:latin typeface="Arial MT"/>
                <a:cs typeface="Arial MT"/>
              </a:rPr>
              <a:t>account</a:t>
            </a:r>
            <a:r>
              <a:rPr dirty="0" sz="160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00" spc="-20">
                <a:solidFill>
                  <a:srgbClr val="242424"/>
                </a:solidFill>
                <a:latin typeface="Arial MT"/>
                <a:cs typeface="Arial MT"/>
              </a:rPr>
              <a:t>1002</a:t>
            </a:r>
            <a:endParaRPr sz="160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45"/>
              </a:spcBef>
            </a:pPr>
            <a:r>
              <a:rPr dirty="0" sz="1650" spc="-105">
                <a:solidFill>
                  <a:srgbClr val="242424"/>
                </a:solidFill>
                <a:latin typeface="Arial MT"/>
                <a:cs typeface="Arial MT"/>
              </a:rPr>
              <a:t>Balance:</a:t>
            </a:r>
            <a:r>
              <a:rPr dirty="0" sz="1650" spc="3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242424"/>
                </a:solidFill>
                <a:latin typeface="Arial MT"/>
                <a:cs typeface="Arial MT"/>
              </a:rPr>
              <a:t>$4200.00</a:t>
            </a:r>
            <a:endParaRPr sz="16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650">
              <a:latin typeface="Arial MT"/>
              <a:cs typeface="Arial MT"/>
            </a:endParaRPr>
          </a:p>
          <a:p>
            <a:pPr marL="20955" marR="428625" indent="-8890">
              <a:lnSpc>
                <a:spcPts val="2020"/>
              </a:lnSpc>
            </a:pPr>
            <a:r>
              <a:rPr dirty="0" sz="1700" spc="-20">
                <a:solidFill>
                  <a:srgbClr val="242424"/>
                </a:solidFill>
                <a:latin typeface="Calibri"/>
                <a:cs typeface="Calibri"/>
              </a:rPr>
              <a:t>[Check</a:t>
            </a:r>
            <a:r>
              <a:rPr dirty="0" sz="1700" spc="-5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00" spc="-45">
                <a:solidFill>
                  <a:srgbClr val="242424"/>
                </a:solidFill>
                <a:latin typeface="Calibri"/>
                <a:cs typeface="Calibri"/>
              </a:rPr>
              <a:t>target</a:t>
            </a:r>
            <a:r>
              <a:rPr dirty="0" sz="1700" spc="-5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00" spc="-30">
                <a:solidFill>
                  <a:srgbClr val="242424"/>
                </a:solidFill>
                <a:latin typeface="Calibri"/>
                <a:cs typeface="Calibri"/>
              </a:rPr>
              <a:t>account</a:t>
            </a:r>
            <a:r>
              <a:rPr dirty="0" sz="1700" spc="-1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242424"/>
                </a:solidFill>
                <a:latin typeface="Calibri"/>
                <a:cs typeface="Calibri"/>
              </a:rPr>
              <a:t>balance] </a:t>
            </a:r>
            <a:r>
              <a:rPr dirty="0" sz="1700" spc="-30">
                <a:solidFill>
                  <a:srgbClr val="242424"/>
                </a:solidFill>
                <a:latin typeface="Calibri"/>
                <a:cs typeface="Calibri"/>
              </a:rPr>
              <a:t>Account</a:t>
            </a:r>
            <a:r>
              <a:rPr dirty="0" sz="1700" spc="-6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00" spc="-285">
                <a:solidFill>
                  <a:srgbClr val="242424"/>
                </a:solidFill>
                <a:latin typeface="Calibri"/>
                <a:cs typeface="Calibri"/>
              </a:rPr>
              <a:t>1</a:t>
            </a:r>
            <a:r>
              <a:rPr dirty="0" sz="1700" spc="-8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00" spc="-25">
                <a:solidFill>
                  <a:srgbClr val="242424"/>
                </a:solidFill>
                <a:latin typeface="Calibri"/>
                <a:cs typeface="Calibri"/>
              </a:rPr>
              <a:t>002</a:t>
            </a:r>
            <a:r>
              <a:rPr dirty="0" sz="1700" spc="-7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00" spc="-65">
                <a:solidFill>
                  <a:srgbClr val="242424"/>
                </a:solidFill>
                <a:latin typeface="Calibri"/>
                <a:cs typeface="Calibri"/>
              </a:rPr>
              <a:t>new</a:t>
            </a:r>
            <a:r>
              <a:rPr dirty="0" sz="1700" spc="-3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00" spc="-30">
                <a:solidFill>
                  <a:srgbClr val="242424"/>
                </a:solidFill>
                <a:latin typeface="Calibri"/>
                <a:cs typeface="Calibri"/>
              </a:rPr>
              <a:t>balance:</a:t>
            </a:r>
            <a:r>
              <a:rPr dirty="0" sz="1700" spc="2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700" spc="-30">
                <a:solidFill>
                  <a:srgbClr val="242424"/>
                </a:solidFill>
                <a:latin typeface="Calibri"/>
                <a:cs typeface="Calibri"/>
              </a:rPr>
              <a:t>â3300.00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2026-03-21T20:55:21Z</dcterms:created>
  <dcterms:modified xsi:type="dcterms:W3CDTF">2026-03-21T20:55:21Z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2026-03-21T00:00:00Z</vt:filetime>
  </property>
  <property fmtid="{D5CDD505-2E9C-101B-9397-08002B2CF9AE}" pid="3" name="Creator">
    <vt:lpwstr>Samsung Electronics</vt:lpwstr>
  </property>
  <property fmtid="{D5CDD505-2E9C-101B-9397-08002B2CF9AE}" pid="4" name="LastSaved">
    <vt:filetime>2026-03-21T00:00:00Z</vt:filetime>
  </property>
  <property fmtid="{D5CDD505-2E9C-101B-9397-08002B2CF9AE}" pid="5" name="Producer">
    <vt:lpwstr>Samsung Electronics</vt:lpwstr>
  </property>
</Properties>
</file>